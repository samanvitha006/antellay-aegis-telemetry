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9" r:id="rId2"/>
    <p:sldId id="527" r:id="rId3"/>
    <p:sldId id="531" r:id="rId4"/>
    <p:sldId id="549" r:id="rId5"/>
    <p:sldId id="550" r:id="rId6"/>
    <p:sldId id="551" r:id="rId7"/>
    <p:sldId id="552" r:id="rId8"/>
    <p:sldId id="553" r:id="rId9"/>
    <p:sldId id="554" r:id="rId10"/>
    <p:sldId id="555" r:id="rId11"/>
    <p:sldId id="556" r:id="rId12"/>
    <p:sldId id="557" r:id="rId13"/>
    <p:sldId id="558" r:id="rId14"/>
    <p:sldId id="560" r:id="rId15"/>
    <p:sldId id="559" r:id="rId16"/>
    <p:sldId id="562" r:id="rId17"/>
    <p:sldId id="561" r:id="rId18"/>
    <p:sldId id="564" r:id="rId19"/>
    <p:sldId id="565" r:id="rId20"/>
    <p:sldId id="566" r:id="rId21"/>
    <p:sldId id="563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333300"/>
    <a:srgbClr val="666633"/>
    <a:srgbClr val="000000"/>
    <a:srgbClr val="993366"/>
    <a:srgbClr val="A50021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905000" y="2710190"/>
            <a:ext cx="4616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Unit-I: Introduction to Python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14800" y="2667000"/>
            <a:ext cx="1256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Literals</a:t>
            </a:r>
          </a:p>
        </p:txBody>
      </p:sp>
    </p:spTree>
    <p:extLst>
      <p:ext uri="{BB962C8B-B14F-4D97-AF65-F5344CB8AC3E}">
        <p14:creationId xmlns:p14="http://schemas.microsoft.com/office/powerpoint/2010/main" val="359591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Literals, also referred as </a:t>
            </a:r>
            <a:r>
              <a:rPr lang="en-US" b="1" dirty="0"/>
              <a:t>constants</a:t>
            </a:r>
            <a:r>
              <a:rPr lang="en-US" dirty="0"/>
              <a:t>, are data items that </a:t>
            </a:r>
            <a:r>
              <a:rPr lang="en-US" b="1" dirty="0"/>
              <a:t>does not change its value </a:t>
            </a:r>
            <a:r>
              <a:rPr lang="en-US" dirty="0"/>
              <a:t>during program execution.</a:t>
            </a:r>
          </a:p>
          <a:p>
            <a:r>
              <a:rPr lang="en-US" b="1" dirty="0">
                <a:solidFill>
                  <a:srgbClr val="FF00FF"/>
                </a:solidFill>
              </a:rPr>
              <a:t>Types of Literals in Python:</a:t>
            </a:r>
          </a:p>
          <a:p>
            <a:pPr lvl="1"/>
            <a:r>
              <a:rPr lang="en-IN" b="1" dirty="0">
                <a:solidFill>
                  <a:srgbClr val="0000FF"/>
                </a:solidFill>
              </a:rPr>
              <a:t>String Literals</a:t>
            </a:r>
          </a:p>
          <a:p>
            <a:pPr lvl="1"/>
            <a:r>
              <a:rPr lang="en-IN" b="1" dirty="0">
                <a:solidFill>
                  <a:srgbClr val="0000FF"/>
                </a:solidFill>
              </a:rPr>
              <a:t>Character Literal</a:t>
            </a:r>
          </a:p>
          <a:p>
            <a:pPr lvl="1"/>
            <a:r>
              <a:rPr lang="en-IN" b="1" dirty="0">
                <a:solidFill>
                  <a:srgbClr val="0000FF"/>
                </a:solidFill>
              </a:rPr>
              <a:t>Numeric Literal</a:t>
            </a:r>
          </a:p>
          <a:p>
            <a:pPr lvl="1"/>
            <a:r>
              <a:rPr lang="en-IN" b="1" dirty="0">
                <a:solidFill>
                  <a:srgbClr val="0000FF"/>
                </a:solidFill>
              </a:rPr>
              <a:t>Boolean Literal</a:t>
            </a:r>
          </a:p>
          <a:p>
            <a:pPr lvl="1"/>
            <a:r>
              <a:rPr lang="en-IN" b="1" dirty="0">
                <a:solidFill>
                  <a:srgbClr val="0000FF"/>
                </a:solidFill>
              </a:rPr>
              <a:t>Special Literal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Literals</a:t>
            </a:r>
          </a:p>
        </p:txBody>
      </p:sp>
    </p:spTree>
    <p:extLst>
      <p:ext uri="{BB962C8B-B14F-4D97-AF65-F5344CB8AC3E}">
        <p14:creationId xmlns:p14="http://schemas.microsoft.com/office/powerpoint/2010/main" val="260434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string is literal and can be created by writing a text (a group of Characters ) surrounded by a </a:t>
            </a:r>
            <a:r>
              <a:rPr lang="en-US" sz="2400" b="1" dirty="0"/>
              <a:t>single(‘)</a:t>
            </a:r>
            <a:r>
              <a:rPr lang="en-US" sz="2400" dirty="0"/>
              <a:t>, </a:t>
            </a:r>
            <a:r>
              <a:rPr lang="en-US" sz="2400" b="1" dirty="0"/>
              <a:t>double(“)</a:t>
            </a:r>
            <a:r>
              <a:rPr lang="en-US" sz="2400" dirty="0"/>
              <a:t>, or </a:t>
            </a:r>
            <a:r>
              <a:rPr lang="en-US" sz="2400" b="1" dirty="0"/>
              <a:t>triple quotes.</a:t>
            </a:r>
            <a:endParaRPr lang="en-IN" sz="24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String Literals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90800"/>
            <a:ext cx="3200400" cy="36710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4767130"/>
            <a:ext cx="2219635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28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is also a type of Python string literal where a </a:t>
            </a:r>
            <a:r>
              <a:rPr lang="en-US" sz="2400" b="1" dirty="0"/>
              <a:t>single character </a:t>
            </a:r>
            <a:r>
              <a:rPr lang="en-US" sz="2400" dirty="0"/>
              <a:t>is surrounded by single or double quotes.</a:t>
            </a: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Character Literal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362200"/>
            <a:ext cx="4950373" cy="274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4377132"/>
            <a:ext cx="1306373" cy="164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23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There are </a:t>
            </a:r>
            <a:r>
              <a:rPr lang="en-US" sz="2000" b="1" dirty="0"/>
              <a:t>three types </a:t>
            </a:r>
            <a:r>
              <a:rPr lang="en-US" sz="2000" dirty="0"/>
              <a:t>of numeric literal: 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rgbClr val="FF00FF"/>
                </a:solidFill>
              </a:rPr>
              <a:t>1. Integer</a:t>
            </a:r>
            <a:r>
              <a:rPr lang="en-US" sz="2000" dirty="0">
                <a:solidFill>
                  <a:srgbClr val="FF00FF"/>
                </a:solidFill>
              </a:rPr>
              <a:t> </a:t>
            </a:r>
            <a:r>
              <a:rPr lang="en-US" sz="2000" dirty="0"/>
              <a:t>: Both </a:t>
            </a:r>
            <a:r>
              <a:rPr lang="en-US" sz="2000" b="1" dirty="0"/>
              <a:t>positive</a:t>
            </a:r>
            <a:r>
              <a:rPr lang="en-US" sz="2000" dirty="0"/>
              <a:t> and </a:t>
            </a:r>
            <a:r>
              <a:rPr lang="en-US" sz="2000" b="1" dirty="0"/>
              <a:t>negative</a:t>
            </a:r>
            <a:r>
              <a:rPr lang="en-US" sz="2000" dirty="0"/>
              <a:t> numbers including </a:t>
            </a:r>
            <a:r>
              <a:rPr lang="en-US" sz="2000" b="1" dirty="0"/>
              <a:t>0</a:t>
            </a:r>
            <a:r>
              <a:rPr lang="en-US" sz="2000" dirty="0"/>
              <a:t>. There should </a:t>
            </a:r>
            <a:r>
              <a:rPr lang="en-US" sz="2000" b="1" dirty="0"/>
              <a:t>not be any fractional part</a:t>
            </a:r>
            <a:r>
              <a:rPr lang="en-US" sz="20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Numeric Literal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514601"/>
            <a:ext cx="2514600" cy="35654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5131631"/>
            <a:ext cx="1590897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57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000" b="1" dirty="0">
                <a:solidFill>
                  <a:srgbClr val="FF00FF"/>
                </a:solidFill>
              </a:rPr>
              <a:t>2. Float : </a:t>
            </a:r>
            <a:r>
              <a:rPr lang="en-US" sz="2000" dirty="0"/>
              <a:t>These are real numbers having both integer and fractional parts. </a:t>
            </a: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endParaRPr lang="en-US" sz="2000" b="1" dirty="0"/>
          </a:p>
          <a:p>
            <a:pPr marL="457200" lvl="1" indent="0">
              <a:buNone/>
            </a:pPr>
            <a:r>
              <a:rPr lang="en-US" sz="2000" b="1" dirty="0">
                <a:solidFill>
                  <a:srgbClr val="FF00FF"/>
                </a:solidFill>
              </a:rPr>
              <a:t>3. Complex : </a:t>
            </a:r>
            <a:r>
              <a:rPr lang="en-US" sz="2000" dirty="0"/>
              <a:t>The numerals will be in the form of </a:t>
            </a:r>
            <a:r>
              <a:rPr lang="en-US" sz="2000" b="1" dirty="0"/>
              <a:t>a + </a:t>
            </a:r>
            <a:r>
              <a:rPr lang="en-US" sz="2000" b="1" dirty="0" err="1"/>
              <a:t>bj</a:t>
            </a:r>
            <a:r>
              <a:rPr lang="en-US" sz="2000" dirty="0"/>
              <a:t>, where ‘</a:t>
            </a:r>
            <a:r>
              <a:rPr lang="en-US" sz="2000" b="1" dirty="0"/>
              <a:t>a’</a:t>
            </a:r>
            <a:r>
              <a:rPr lang="en-US" sz="2000" dirty="0"/>
              <a:t> is the real part and ‘</a:t>
            </a:r>
            <a:r>
              <a:rPr lang="en-US" sz="2000" b="1" dirty="0"/>
              <a:t>b</a:t>
            </a:r>
            <a:r>
              <a:rPr lang="en-US" sz="2000" dirty="0"/>
              <a:t>‘ is the complex part.</a:t>
            </a:r>
            <a:r>
              <a:rPr lang="en-US" sz="2000" b="1" dirty="0"/>
              <a:t> </a:t>
            </a:r>
            <a:endParaRPr lang="en-IN" sz="2000" b="1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828800"/>
            <a:ext cx="1752600" cy="13507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125" y="2284055"/>
            <a:ext cx="1257475" cy="895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073400"/>
            <a:ext cx="2410299" cy="1623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4299" y="4856603"/>
            <a:ext cx="1238423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22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There are only two Boolean literals in Python: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true</a:t>
            </a:r>
            <a:r>
              <a:rPr lang="en-US" sz="2400" b="1" dirty="0"/>
              <a:t> </a:t>
            </a:r>
            <a:r>
              <a:rPr lang="en-US" sz="2400" dirty="0"/>
              <a:t>and </a:t>
            </a:r>
            <a:r>
              <a:rPr lang="en-US" sz="2400" b="1" dirty="0">
                <a:solidFill>
                  <a:srgbClr val="0000FF"/>
                </a:solidFill>
              </a:rPr>
              <a:t>false</a:t>
            </a:r>
            <a:r>
              <a:rPr lang="en-US" sz="2400" dirty="0"/>
              <a:t>. </a:t>
            </a:r>
          </a:p>
          <a:p>
            <a:r>
              <a:rPr lang="en-US" sz="2400" dirty="0"/>
              <a:t>In Python, </a:t>
            </a:r>
            <a:r>
              <a:rPr lang="en-US" sz="2400" b="1" dirty="0"/>
              <a:t>True</a:t>
            </a:r>
            <a:r>
              <a:rPr lang="en-US" sz="2400" dirty="0"/>
              <a:t> represents the value as </a:t>
            </a:r>
            <a:r>
              <a:rPr lang="en-US" sz="2400" b="1" dirty="0"/>
              <a:t>1,</a:t>
            </a:r>
            <a:r>
              <a:rPr lang="en-US" sz="2400" dirty="0"/>
              <a:t> and </a:t>
            </a:r>
            <a:r>
              <a:rPr lang="en-US" sz="2400" b="1" dirty="0"/>
              <a:t>False</a:t>
            </a:r>
            <a:r>
              <a:rPr lang="en-US" sz="2400" dirty="0"/>
              <a:t> represents the value as </a:t>
            </a:r>
            <a:r>
              <a:rPr lang="en-US" sz="2400" b="1" dirty="0"/>
              <a:t>0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Boolean Literal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76600"/>
            <a:ext cx="2391508" cy="274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908" y="4191000"/>
            <a:ext cx="1571844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3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‘</a:t>
            </a:r>
            <a:r>
              <a:rPr lang="en-US" sz="2400" b="1" dirty="0">
                <a:solidFill>
                  <a:srgbClr val="0000FF"/>
                </a:solidFill>
              </a:rPr>
              <a:t>None</a:t>
            </a:r>
            <a:r>
              <a:rPr lang="en-US" sz="2400" dirty="0"/>
              <a:t>’ is used to define a null variable. </a:t>
            </a:r>
          </a:p>
          <a:p>
            <a:r>
              <a:rPr lang="en-US" sz="2400" dirty="0"/>
              <a:t>If ‘</a:t>
            </a:r>
            <a:r>
              <a:rPr lang="en-US" sz="2400" b="1" dirty="0"/>
              <a:t>None</a:t>
            </a:r>
            <a:r>
              <a:rPr lang="en-US" sz="2400" dirty="0"/>
              <a:t>’ is compared with anything else other than a ‘</a:t>
            </a:r>
            <a:r>
              <a:rPr lang="en-US" sz="2400" b="1" dirty="0"/>
              <a:t>None</a:t>
            </a:r>
            <a:r>
              <a:rPr lang="en-US" sz="2400" dirty="0"/>
              <a:t>’, it will return </a:t>
            </a:r>
            <a:r>
              <a:rPr lang="en-US" sz="2400" b="1" dirty="0"/>
              <a:t>false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Special Literal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5600"/>
            <a:ext cx="2733102" cy="990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4038600"/>
            <a:ext cx="952633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47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276600" y="2745502"/>
            <a:ext cx="20858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Python Suite</a:t>
            </a:r>
          </a:p>
        </p:txBody>
      </p:sp>
    </p:spTree>
    <p:extLst>
      <p:ext uri="{BB962C8B-B14F-4D97-AF65-F5344CB8AC3E}">
        <p14:creationId xmlns:p14="http://schemas.microsoft.com/office/powerpoint/2010/main" val="11472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2000" dirty="0"/>
              <a:t>Groups of individual statements </a:t>
            </a:r>
            <a:r>
              <a:rPr lang="en-US" altLang="en-US" sz="2000" b="1" dirty="0"/>
              <a:t>making up a single code block </a:t>
            </a:r>
            <a:r>
              <a:rPr lang="en-US" altLang="en-US" sz="2000" dirty="0"/>
              <a:t>are called </a:t>
            </a:r>
            <a:r>
              <a:rPr lang="en-US" altLang="en-US" sz="2000" b="1" dirty="0"/>
              <a:t>suites</a:t>
            </a:r>
            <a:r>
              <a:rPr lang="en-US" altLang="en-US" sz="2000" dirty="0"/>
              <a:t> in Python.</a:t>
            </a:r>
          </a:p>
          <a:p>
            <a:endParaRPr lang="en-US" altLang="en-US" sz="2000" dirty="0"/>
          </a:p>
          <a:p>
            <a:r>
              <a:rPr lang="en-US" altLang="en-US" sz="2000" dirty="0"/>
              <a:t>Compound or complex statements, such as</a:t>
            </a:r>
            <a:r>
              <a:rPr lang="en-US" altLang="en-US" sz="2000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00FF"/>
                </a:solidFill>
              </a:rPr>
              <a:t>if,</a:t>
            </a:r>
            <a:r>
              <a:rPr lang="en-US" altLang="en-US" sz="2000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00FF"/>
                </a:solidFill>
              </a:rPr>
              <a:t>while</a:t>
            </a:r>
            <a:r>
              <a:rPr lang="en-US" altLang="en-US" sz="2000" dirty="0">
                <a:solidFill>
                  <a:srgbClr val="0000FF"/>
                </a:solidFill>
              </a:rPr>
              <a:t>, </a:t>
            </a:r>
            <a:r>
              <a:rPr lang="en-US" altLang="en-US" sz="2000" b="1" dirty="0" err="1">
                <a:solidFill>
                  <a:srgbClr val="0000FF"/>
                </a:solidFill>
              </a:rPr>
              <a:t>def</a:t>
            </a:r>
            <a:r>
              <a:rPr lang="en-US" altLang="en-US" sz="2000" dirty="0"/>
              <a:t>, and </a:t>
            </a:r>
            <a:r>
              <a:rPr lang="en-US" altLang="en-US" sz="2000" b="1" dirty="0">
                <a:solidFill>
                  <a:srgbClr val="0000FF"/>
                </a:solidFill>
              </a:rPr>
              <a:t>class</a:t>
            </a:r>
            <a:r>
              <a:rPr lang="en-US" altLang="en-US" sz="2000" dirty="0"/>
              <a:t>, are those which require a header line and a suite.</a:t>
            </a:r>
          </a:p>
          <a:p>
            <a:endParaRPr lang="en-US" altLang="en-US" sz="2000" dirty="0"/>
          </a:p>
          <a:p>
            <a:r>
              <a:rPr lang="en-US" altLang="en-US" sz="2000" dirty="0"/>
              <a:t>Header lines begin the statement (with the keyword) and terminate with a colon ( : ) and are followed by </a:t>
            </a:r>
            <a:r>
              <a:rPr lang="en-US" altLang="en-US" sz="2000" b="1" dirty="0"/>
              <a:t>one</a:t>
            </a:r>
            <a:r>
              <a:rPr lang="en-US" altLang="en-US" sz="2000" dirty="0"/>
              <a:t> or </a:t>
            </a:r>
            <a:r>
              <a:rPr lang="en-US" altLang="en-US" sz="2000" b="1" dirty="0"/>
              <a:t>more lines </a:t>
            </a:r>
            <a:r>
              <a:rPr lang="en-US" altLang="en-US" sz="2000" dirty="0"/>
              <a:t>which make up the suite.</a:t>
            </a:r>
          </a:p>
          <a:p>
            <a:pPr lvl="1">
              <a:buFontTx/>
              <a:buNone/>
            </a:pPr>
            <a:r>
              <a:rPr lang="fr-F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expression : </a:t>
            </a:r>
          </a:p>
          <a:p>
            <a:pPr lvl="1">
              <a:buFontTx/>
              <a:buNone/>
            </a:pPr>
            <a:r>
              <a:rPr lang="fr-F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suite </a:t>
            </a:r>
          </a:p>
          <a:p>
            <a:pPr lvl="1">
              <a:buFontTx/>
              <a:buNone/>
            </a:pPr>
            <a:r>
              <a:rPr lang="fr-FR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fr-F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expression :</a:t>
            </a:r>
          </a:p>
          <a:p>
            <a:pPr lvl="1">
              <a:buFontTx/>
              <a:buNone/>
            </a:pPr>
            <a:r>
              <a:rPr lang="fr-F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suite </a:t>
            </a:r>
          </a:p>
          <a:p>
            <a:pPr lvl="1">
              <a:buFontTx/>
              <a:buNone/>
            </a:pPr>
            <a:r>
              <a:rPr lang="fr-FR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fr-F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</a:t>
            </a:r>
          </a:p>
          <a:p>
            <a:pPr lvl="1">
              <a:buFontTx/>
              <a:buNone/>
            </a:pPr>
            <a:r>
              <a:rPr lang="fr-F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suite 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114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 `if`, `</a:t>
            </a:r>
            <a:r>
              <a:rPr lang="en-US" sz="2400" dirty="0" err="1"/>
              <a:t>elif</a:t>
            </a:r>
            <a:r>
              <a:rPr lang="en-US" sz="2400" dirty="0"/>
              <a:t>`, or `else` block contains a suite of indented code that is executed when the condition is met.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Both `for` and `while` loops execute a suite repeatedly, based on the condition.</a:t>
            </a: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09" y="2331337"/>
            <a:ext cx="8402223" cy="11526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820310"/>
            <a:ext cx="5277587" cy="5811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5728732"/>
            <a:ext cx="4953691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74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971800" y="2710190"/>
            <a:ext cx="3221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Quotation in Python</a:t>
            </a:r>
          </a:p>
        </p:txBody>
      </p:sp>
    </p:spTree>
    <p:extLst>
      <p:ext uri="{BB962C8B-B14F-4D97-AF65-F5344CB8AC3E}">
        <p14:creationId xmlns:p14="http://schemas.microsoft.com/office/powerpoint/2010/main" val="405783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Quotation in Python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524000"/>
            <a:ext cx="8153400" cy="4800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Python accepts single (</a:t>
            </a:r>
            <a:r>
              <a:rPr lang="en-US" altLang="en-US" sz="2000" b="1" dirty="0">
                <a:solidFill>
                  <a:srgbClr val="FF0000"/>
                </a:solidFill>
              </a:rPr>
              <a:t>'</a:t>
            </a:r>
            <a:r>
              <a:rPr lang="en-US" altLang="en-US" sz="2000" dirty="0"/>
              <a:t>), double (</a:t>
            </a:r>
            <a:r>
              <a:rPr lang="en-US" altLang="en-US" sz="2000" b="1" dirty="0">
                <a:solidFill>
                  <a:srgbClr val="FF0000"/>
                </a:solidFill>
              </a:rPr>
              <a:t>"</a:t>
            </a:r>
            <a:r>
              <a:rPr lang="en-US" altLang="en-US" sz="2000" dirty="0"/>
              <a:t>) and triple (</a:t>
            </a:r>
            <a:r>
              <a:rPr lang="en-US" altLang="en-US" sz="2000" b="1" dirty="0">
                <a:solidFill>
                  <a:srgbClr val="FF0000"/>
                </a:solidFill>
              </a:rPr>
              <a:t>''' </a:t>
            </a:r>
            <a:r>
              <a:rPr lang="en-US" altLang="en-US" sz="2000" dirty="0"/>
              <a:t>or </a:t>
            </a:r>
            <a:r>
              <a:rPr lang="en-US" altLang="en-US" sz="2000" b="1" dirty="0">
                <a:solidFill>
                  <a:srgbClr val="FF0000"/>
                </a:solidFill>
              </a:rPr>
              <a:t>"""</a:t>
            </a:r>
            <a:r>
              <a:rPr lang="en-US" altLang="en-US" sz="2000" dirty="0"/>
              <a:t>) quotes to denote string literals, as long as the same type of quote starts and ends the string.</a:t>
            </a:r>
          </a:p>
          <a:p>
            <a:r>
              <a:rPr lang="en-US" altLang="en-US" sz="2000" dirty="0"/>
              <a:t>The triple quotes can be used to span the string across multiple lines. For example, all the following are legal:</a:t>
            </a:r>
          </a:p>
          <a:p>
            <a:pPr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word = 'word' 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sentence = "This is a sentence." 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paragraph = """This is a paragraph. It is made up 	of multiple lines and sentences.""" </a:t>
            </a:r>
          </a:p>
          <a:p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967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61300" y="2742229"/>
            <a:ext cx="1789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Comments</a:t>
            </a:r>
          </a:p>
        </p:txBody>
      </p:sp>
    </p:spTree>
    <p:extLst>
      <p:ext uri="{BB962C8B-B14F-4D97-AF65-F5344CB8AC3E}">
        <p14:creationId xmlns:p14="http://schemas.microsoft.com/office/powerpoint/2010/main" val="157565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Comments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 Python are the lines in the code that are </a:t>
            </a:r>
            <a:r>
              <a:rPr lang="en-US" b="1" dirty="0"/>
              <a:t>ignored by the interpreter </a:t>
            </a:r>
            <a:r>
              <a:rPr lang="en-US" dirty="0"/>
              <a:t>during the execution of the program.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Comments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227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22507"/>
            <a:ext cx="5649113" cy="21910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46" y="3818363"/>
            <a:ext cx="826885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94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219200"/>
            <a:ext cx="8763000" cy="221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87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Multiline Comments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1" y="1033251"/>
            <a:ext cx="4382112" cy="19624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77" y="3334024"/>
            <a:ext cx="8945223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45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Comments </a:t>
            </a:r>
            <a:r>
              <a:rPr lang="en-US" b="1" dirty="0"/>
              <a:t>enhance the readability </a:t>
            </a:r>
            <a:r>
              <a:rPr lang="en-US" dirty="0"/>
              <a:t>of the code</a:t>
            </a:r>
          </a:p>
          <a:p>
            <a:r>
              <a:rPr lang="en-US" dirty="0"/>
              <a:t>It also </a:t>
            </a:r>
            <a:r>
              <a:rPr lang="en-US" b="1" dirty="0"/>
              <a:t>helps in collaborating </a:t>
            </a:r>
            <a:r>
              <a:rPr lang="en-US" dirty="0"/>
              <a:t>with other developers as adding comments makes it easier to explain the code.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Advantages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35118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9102</TotalTime>
  <Words>548</Words>
  <Application>Microsoft Office PowerPoint</Application>
  <PresentationFormat>On-screen Show (4:3)</PresentationFormat>
  <Paragraphs>69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Literals</vt:lpstr>
      <vt:lpstr>String Literals</vt:lpstr>
      <vt:lpstr>Character Literal</vt:lpstr>
      <vt:lpstr>Numeric Literal</vt:lpstr>
      <vt:lpstr>PowerPoint Presentation</vt:lpstr>
      <vt:lpstr>Boolean Literal</vt:lpstr>
      <vt:lpstr>Special Literal</vt:lpstr>
      <vt:lpstr>PowerPoint Presentation</vt:lpstr>
      <vt:lpstr>PowerPoint Presentation</vt:lpstr>
      <vt:lpstr>Examples</vt:lpstr>
      <vt:lpstr>PowerPoint Presentation</vt:lpstr>
      <vt:lpstr>Quotation in Python</vt:lpstr>
      <vt:lpstr>PowerPoint Presentation</vt:lpstr>
      <vt:lpstr>Comments</vt:lpstr>
      <vt:lpstr>PowerPoint Presentation</vt:lpstr>
      <vt:lpstr>PowerPoint Presentation</vt:lpstr>
      <vt:lpstr>Multiline Comments</vt:lpstr>
      <vt:lpstr>Advantages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629</cp:revision>
  <dcterms:created xsi:type="dcterms:W3CDTF">2022-12-01T06:56:39Z</dcterms:created>
  <dcterms:modified xsi:type="dcterms:W3CDTF">2024-10-18T07:34:26Z</dcterms:modified>
</cp:coreProperties>
</file>