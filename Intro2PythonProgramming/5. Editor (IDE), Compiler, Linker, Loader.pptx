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9" r:id="rId2"/>
    <p:sldId id="527" r:id="rId3"/>
    <p:sldId id="529" r:id="rId4"/>
    <p:sldId id="539" r:id="rId5"/>
    <p:sldId id="535" r:id="rId6"/>
    <p:sldId id="530" r:id="rId7"/>
    <p:sldId id="531" r:id="rId8"/>
    <p:sldId id="532" r:id="rId9"/>
    <p:sldId id="533" r:id="rId10"/>
    <p:sldId id="534" r:id="rId11"/>
    <p:sldId id="536" r:id="rId12"/>
    <p:sldId id="537" r:id="rId13"/>
    <p:sldId id="538" r:id="rId14"/>
    <p:sldId id="28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892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66BF5-F676-4E17-AB86-E138237E1E8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2C62E-8EEF-49B5-A843-EDF193BC65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85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6312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147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57200" y="1371600"/>
            <a:ext cx="830580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85800" y="1600200"/>
            <a:ext cx="7924800" cy="381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 rot="19858487">
            <a:off x="-298088" y="1009160"/>
            <a:ext cx="257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0" dirty="0" err="1">
                <a:solidFill>
                  <a:srgbClr val="BEBEBE"/>
                </a:solidFill>
              </a:rPr>
              <a:t>Mr.Panduraju</a:t>
            </a:r>
            <a:r>
              <a:rPr lang="en-US" baseline="0" dirty="0">
                <a:solidFill>
                  <a:srgbClr val="BEBEBE"/>
                </a:solidFill>
              </a:rPr>
              <a:t> Pagidimalla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 rot="19858487">
            <a:off x="-298088" y="1009160"/>
            <a:ext cx="257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0" dirty="0" err="1">
                <a:solidFill>
                  <a:srgbClr val="BEBEBE"/>
                </a:solidFill>
              </a:rPr>
              <a:t>Mr.Panduraju</a:t>
            </a:r>
            <a:r>
              <a:rPr lang="en-US" baseline="0" dirty="0">
                <a:solidFill>
                  <a:srgbClr val="BEBEBE"/>
                </a:solidFill>
              </a:rPr>
              <a:t> Pagidimalla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6"/>
          <p:cNvSpPr>
            <a:spLocks noChangeShapeType="1"/>
          </p:cNvSpPr>
          <p:nvPr userDrawn="1"/>
        </p:nvSpPr>
        <p:spPr bwMode="auto">
          <a:xfrm>
            <a:off x="228600" y="533400"/>
            <a:ext cx="86106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Line 6"/>
          <p:cNvSpPr>
            <a:spLocks noChangeShapeType="1"/>
          </p:cNvSpPr>
          <p:nvPr userDrawn="1"/>
        </p:nvSpPr>
        <p:spPr bwMode="auto">
          <a:xfrm>
            <a:off x="228600" y="990600"/>
            <a:ext cx="86106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Line 6"/>
          <p:cNvSpPr>
            <a:spLocks noChangeShapeType="1"/>
          </p:cNvSpPr>
          <p:nvPr userDrawn="1"/>
        </p:nvSpPr>
        <p:spPr bwMode="auto">
          <a:xfrm>
            <a:off x="304800" y="6096000"/>
            <a:ext cx="86106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62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99030" y="1981200"/>
            <a:ext cx="4974888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5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Mr.Panduraju</a:t>
            </a:r>
            <a:r>
              <a:rPr lang="en-US" altLang="zh-CN" sz="35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Pagidimalla</a:t>
            </a:r>
          </a:p>
        </p:txBody>
      </p:sp>
      <p:sp>
        <p:nvSpPr>
          <p:cNvPr id="8" name="文本框 6"/>
          <p:cNvSpPr txBox="1"/>
          <p:nvPr/>
        </p:nvSpPr>
        <p:spPr>
          <a:xfrm>
            <a:off x="914400" y="457200"/>
            <a:ext cx="7772400" cy="95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85000"/>
                    <a:lumOff val="1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  <a:ea typeface="华文中宋" panose="02010600040101010101" pitchFamily="2" charset="-122"/>
              </a:rPr>
              <a:t>PROBLEM SOLVING AND PROGRAMMING USING PYTHON</a:t>
            </a:r>
            <a:endParaRPr lang="zh-CN" altLang="en-US" sz="2800" b="1" spc="-3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itchFamily="34" charset="0"/>
              <a:ea typeface="华文中宋" panose="020106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4600" y="2590800"/>
            <a:ext cx="3280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Assistant Professor, Dept of AIML</a:t>
            </a:r>
          </a:p>
        </p:txBody>
      </p:sp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Line 2"/>
          <p:cNvSpPr>
            <a:spLocks noChangeShapeType="1"/>
          </p:cNvSpPr>
          <p:nvPr/>
        </p:nvSpPr>
        <p:spPr bwMode="auto">
          <a:xfrm>
            <a:off x="43815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66800" y="2753380"/>
            <a:ext cx="72585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Unit-I: Software requirements for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Line 2"/>
          <p:cNvSpPr>
            <a:spLocks noChangeShapeType="1"/>
          </p:cNvSpPr>
          <p:nvPr/>
        </p:nvSpPr>
        <p:spPr bwMode="auto">
          <a:xfrm>
            <a:off x="439738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828800" y="2710190"/>
            <a:ext cx="5634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Editor (IDE), Compiler, Linker, Loader</a:t>
            </a:r>
          </a:p>
        </p:txBody>
      </p:sp>
    </p:spTree>
    <p:extLst>
      <p:ext uri="{BB962C8B-B14F-4D97-AF65-F5344CB8AC3E}">
        <p14:creationId xmlns:p14="http://schemas.microsoft.com/office/powerpoint/2010/main" val="3379931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the </a:t>
            </a:r>
            <a:r>
              <a:rPr lang="en-US" b="1" dirty="0"/>
              <a:t>job of a programmer </a:t>
            </a:r>
            <a:r>
              <a:rPr lang="en-US" dirty="0"/>
              <a:t>to </a:t>
            </a:r>
            <a:r>
              <a:rPr lang="en-US" b="1" dirty="0">
                <a:solidFill>
                  <a:srgbClr val="C00000"/>
                </a:solidFill>
              </a:rPr>
              <a:t>write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run</a:t>
            </a:r>
            <a:r>
              <a:rPr lang="en-US" b="1" dirty="0"/>
              <a:t> the program</a:t>
            </a:r>
            <a:r>
              <a:rPr lang="en-US" dirty="0"/>
              <a:t>. This process involves </a:t>
            </a:r>
            <a:r>
              <a:rPr lang="en-US" b="1" dirty="0">
                <a:solidFill>
                  <a:srgbClr val="0000FF"/>
                </a:solidFill>
              </a:rPr>
              <a:t>four </a:t>
            </a:r>
            <a:r>
              <a:rPr lang="en-IN" b="1" dirty="0">
                <a:solidFill>
                  <a:srgbClr val="0000FF"/>
                </a:solidFill>
              </a:rPr>
              <a:t>steps</a:t>
            </a:r>
            <a:r>
              <a:rPr lang="en-IN" dirty="0"/>
              <a:t>.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Writing and </a:t>
            </a:r>
            <a:r>
              <a:rPr lang="en-US" b="1" dirty="0"/>
              <a:t>editing</a:t>
            </a:r>
            <a:r>
              <a:rPr lang="en-US" dirty="0"/>
              <a:t> programs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IN" b="1" dirty="0"/>
              <a:t>Compiling</a:t>
            </a:r>
            <a:r>
              <a:rPr lang="en-IN" dirty="0"/>
              <a:t> the program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b="1" dirty="0"/>
              <a:t>Linking</a:t>
            </a:r>
            <a:r>
              <a:rPr lang="en-US" dirty="0"/>
              <a:t> the program with required library modules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IN" b="1" dirty="0"/>
              <a:t>Executing</a:t>
            </a:r>
            <a:r>
              <a:rPr lang="en-IN" dirty="0"/>
              <a:t> the program 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417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An </a:t>
            </a:r>
            <a:r>
              <a:rPr lang="en-US" b="1" dirty="0"/>
              <a:t>integrated development environment </a:t>
            </a:r>
            <a:r>
              <a:rPr lang="en-US" dirty="0"/>
              <a:t>(</a:t>
            </a:r>
            <a:r>
              <a:rPr lang="en-US" b="1" dirty="0">
                <a:solidFill>
                  <a:srgbClr val="FF0000"/>
                </a:solidFill>
              </a:rPr>
              <a:t>IDE</a:t>
            </a:r>
            <a:r>
              <a:rPr lang="en-US" dirty="0"/>
              <a:t>) is </a:t>
            </a:r>
            <a:r>
              <a:rPr lang="en-US" b="1" dirty="0">
                <a:solidFill>
                  <a:srgbClr val="0000FF"/>
                </a:solidFill>
              </a:rPr>
              <a:t>a software application </a:t>
            </a:r>
            <a:r>
              <a:rPr lang="en-US" dirty="0"/>
              <a:t>that </a:t>
            </a:r>
            <a:r>
              <a:rPr lang="en-US" b="1" dirty="0"/>
              <a:t>helps programmers develop software code </a:t>
            </a:r>
            <a:r>
              <a:rPr lang="en-US" dirty="0"/>
              <a:t>efficiently. </a:t>
            </a:r>
          </a:p>
          <a:p>
            <a:r>
              <a:rPr lang="en-US" dirty="0"/>
              <a:t>It </a:t>
            </a:r>
            <a:r>
              <a:rPr lang="en-US" b="1" dirty="0">
                <a:solidFill>
                  <a:srgbClr val="0000FF"/>
                </a:solidFill>
              </a:rPr>
              <a:t>increases developer productivity </a:t>
            </a:r>
            <a:r>
              <a:rPr lang="en-US" dirty="0">
                <a:solidFill>
                  <a:srgbClr val="C00000"/>
                </a:solidFill>
              </a:rPr>
              <a:t>by </a:t>
            </a:r>
            <a:r>
              <a:rPr lang="en-US" b="1" dirty="0">
                <a:solidFill>
                  <a:srgbClr val="C00000"/>
                </a:solidFill>
              </a:rPr>
              <a:t>combining capabilities such as software editing, building, testing, and packaging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 an easy-to-use application. </a:t>
            </a:r>
          </a:p>
          <a:p>
            <a:r>
              <a:rPr lang="en-US" dirty="0"/>
              <a:t>Just as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writers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use </a:t>
            </a:r>
            <a:r>
              <a:rPr lang="en-US" b="1" dirty="0"/>
              <a:t>text editors </a:t>
            </a:r>
            <a:r>
              <a:rPr lang="en-US" dirty="0"/>
              <a:t>and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accountants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use </a:t>
            </a:r>
            <a:r>
              <a:rPr lang="en-US" b="1" dirty="0"/>
              <a:t>spreadsheets,</a:t>
            </a:r>
            <a:r>
              <a:rPr lang="en-US" dirty="0"/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software developers </a:t>
            </a:r>
            <a:r>
              <a:rPr lang="en-US" dirty="0"/>
              <a:t>use </a:t>
            </a:r>
            <a:r>
              <a:rPr lang="en-US" b="1" dirty="0"/>
              <a:t>IDEs</a:t>
            </a:r>
            <a:r>
              <a:rPr lang="en-US" dirty="0"/>
              <a:t> to make their job easier. </a:t>
            </a:r>
          </a:p>
          <a:p>
            <a:r>
              <a:rPr lang="en-US" dirty="0"/>
              <a:t>The </a:t>
            </a:r>
            <a:r>
              <a:rPr lang="en-US" b="1" dirty="0"/>
              <a:t>IDE integrates all these things and more into one package </a:t>
            </a:r>
            <a:r>
              <a:rPr lang="en-US" dirty="0"/>
              <a:t>so that you can </a:t>
            </a:r>
            <a:r>
              <a:rPr lang="en-US" b="1" dirty="0">
                <a:solidFill>
                  <a:srgbClr val="0000FF"/>
                </a:solidFill>
              </a:rPr>
              <a:t>edit, compile, run, and debug your code </a:t>
            </a:r>
            <a:r>
              <a:rPr lang="en-US" b="1" dirty="0"/>
              <a:t>all in one program. </a:t>
            </a:r>
          </a:p>
          <a:p>
            <a:r>
              <a:rPr lang="en-US" dirty="0"/>
              <a:t>Some IDEs, such as </a:t>
            </a:r>
            <a:r>
              <a:rPr lang="en-US" b="1" dirty="0"/>
              <a:t>IntelliJ IDEA</a:t>
            </a:r>
            <a:r>
              <a:rPr lang="en-US" dirty="0"/>
              <a:t>, </a:t>
            </a:r>
            <a:r>
              <a:rPr lang="en-US" b="1" dirty="0"/>
              <a:t>Eclipse</a:t>
            </a:r>
            <a:r>
              <a:rPr lang="en-US" dirty="0"/>
              <a:t>, and </a:t>
            </a:r>
            <a:r>
              <a:rPr lang="en-US" b="1" dirty="0"/>
              <a:t>Lazarus</a:t>
            </a:r>
            <a:r>
              <a:rPr lang="en-US" dirty="0"/>
              <a:t>, contain the necessary compiler, interpreter, or both;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Integrated Development Environment (IDE)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70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Because the </a:t>
            </a:r>
            <a:r>
              <a:rPr lang="en-US" b="1" dirty="0">
                <a:solidFill>
                  <a:srgbClr val="0000FF"/>
                </a:solidFill>
              </a:rPr>
              <a:t>CPU understands only machine language instructions</a:t>
            </a:r>
            <a:r>
              <a:rPr lang="en-US" dirty="0"/>
              <a:t>, programs that are written in a </a:t>
            </a:r>
            <a:r>
              <a:rPr lang="en-US" b="1" dirty="0"/>
              <a:t>high-level language </a:t>
            </a:r>
            <a:r>
              <a:rPr lang="en-US" dirty="0"/>
              <a:t>must be translated into </a:t>
            </a:r>
            <a:r>
              <a:rPr lang="en-US" b="1" dirty="0"/>
              <a:t>machine language</a:t>
            </a:r>
            <a:r>
              <a:rPr lang="en-US" dirty="0"/>
              <a:t>. </a:t>
            </a:r>
          </a:p>
          <a:p>
            <a:r>
              <a:rPr lang="en-US" dirty="0"/>
              <a:t>Depending on the language that a program has been written in, the programmer will </a:t>
            </a:r>
            <a:r>
              <a:rPr lang="en-US" b="1" dirty="0"/>
              <a:t>use either a </a:t>
            </a:r>
            <a:r>
              <a:rPr lang="en-US" b="1" dirty="0">
                <a:solidFill>
                  <a:srgbClr val="0000FF"/>
                </a:solidFill>
              </a:rPr>
              <a:t>compiler</a:t>
            </a:r>
            <a:r>
              <a:rPr lang="en-US" b="1" dirty="0"/>
              <a:t> or an </a:t>
            </a:r>
            <a:r>
              <a:rPr lang="en-US" b="1" dirty="0">
                <a:solidFill>
                  <a:srgbClr val="0000FF"/>
                </a:solidFill>
              </a:rPr>
              <a:t>interpreter</a:t>
            </a:r>
            <a:r>
              <a:rPr lang="en-US" b="1" dirty="0"/>
              <a:t> </a:t>
            </a:r>
            <a:r>
              <a:rPr lang="en-US" dirty="0"/>
              <a:t>to make the translation.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841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compiler</a:t>
            </a:r>
            <a:r>
              <a:rPr lang="en-US" dirty="0"/>
              <a:t> is a program that </a:t>
            </a:r>
            <a:r>
              <a:rPr lang="en-US" b="1" dirty="0">
                <a:solidFill>
                  <a:srgbClr val="C00000"/>
                </a:solidFill>
              </a:rPr>
              <a:t>translates</a:t>
            </a:r>
            <a:r>
              <a:rPr lang="en-US" b="1" dirty="0"/>
              <a:t> </a:t>
            </a:r>
            <a:r>
              <a:rPr lang="en-US" b="1" dirty="0">
                <a:solidFill>
                  <a:srgbClr val="0000FF"/>
                </a:solidFill>
              </a:rPr>
              <a:t>a high-level language</a:t>
            </a:r>
            <a:r>
              <a:rPr lang="en-US" b="1" dirty="0"/>
              <a:t> program into a separate </a:t>
            </a:r>
            <a:r>
              <a:rPr lang="en-US" b="1" dirty="0">
                <a:solidFill>
                  <a:srgbClr val="0000FF"/>
                </a:solidFill>
              </a:rPr>
              <a:t>machine language </a:t>
            </a:r>
            <a:r>
              <a:rPr lang="en-US" b="1" dirty="0"/>
              <a:t>program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machine language </a:t>
            </a:r>
            <a:r>
              <a:rPr lang="en-US" dirty="0"/>
              <a:t>program can then </a:t>
            </a:r>
            <a:r>
              <a:rPr lang="en-US" b="1" dirty="0"/>
              <a:t>be executed at any time </a:t>
            </a:r>
            <a:r>
              <a:rPr lang="en-US" dirty="0"/>
              <a:t>it is needed.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Compiler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4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Compiler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42" y="1338146"/>
            <a:ext cx="8620760" cy="399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081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interpreter</a:t>
            </a:r>
            <a:r>
              <a:rPr lang="en-US" dirty="0"/>
              <a:t> is a program that </a:t>
            </a:r>
            <a:r>
              <a:rPr lang="en-US" b="1" dirty="0">
                <a:solidFill>
                  <a:srgbClr val="0000FF"/>
                </a:solidFill>
              </a:rPr>
              <a:t>both translates</a:t>
            </a:r>
            <a:r>
              <a:rPr lang="en-US" dirty="0"/>
              <a:t> and </a:t>
            </a:r>
            <a:r>
              <a:rPr lang="en-US" b="1" dirty="0">
                <a:solidFill>
                  <a:srgbClr val="0000FF"/>
                </a:solidFill>
              </a:rPr>
              <a:t>executes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the instructions in </a:t>
            </a:r>
            <a:r>
              <a:rPr lang="en-US" b="1" dirty="0"/>
              <a:t>high-level language program</a:t>
            </a:r>
            <a:r>
              <a:rPr lang="en-US" dirty="0"/>
              <a:t>. </a:t>
            </a:r>
          </a:p>
          <a:p>
            <a:r>
              <a:rPr lang="en-US" b="1" dirty="0"/>
              <a:t>As the interpreter reads </a:t>
            </a:r>
            <a:r>
              <a:rPr lang="en-US" dirty="0"/>
              <a:t>each individual instruction in the program, </a:t>
            </a:r>
            <a:r>
              <a:rPr lang="en-US" b="1" dirty="0"/>
              <a:t>it </a:t>
            </a:r>
            <a:r>
              <a:rPr lang="en-US" b="1" dirty="0">
                <a:solidFill>
                  <a:srgbClr val="0000FF"/>
                </a:solidFill>
              </a:rPr>
              <a:t>converts</a:t>
            </a:r>
            <a:r>
              <a:rPr lang="en-US" b="1" dirty="0"/>
              <a:t> it to </a:t>
            </a:r>
            <a:r>
              <a:rPr lang="en-US" b="1" dirty="0">
                <a:solidFill>
                  <a:srgbClr val="0000FF"/>
                </a:solidFill>
              </a:rPr>
              <a:t>machine language instructions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b="1" dirty="0"/>
              <a:t>and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then immediately executes them.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Interpreter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476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Interpreter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1"/>
            <a:ext cx="8862042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65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Assembler is used to </a:t>
            </a:r>
            <a:r>
              <a:rPr lang="en-US" b="1" dirty="0">
                <a:solidFill>
                  <a:srgbClr val="C00000"/>
                </a:solidFill>
              </a:rPr>
              <a:t>translate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 </a:t>
            </a:r>
            <a:r>
              <a:rPr lang="en-US" b="1" dirty="0"/>
              <a:t>assembly language</a:t>
            </a:r>
            <a:r>
              <a:rPr lang="en-US" dirty="0"/>
              <a:t> (</a:t>
            </a:r>
            <a:r>
              <a:rPr lang="en-IN" b="1" i="1" dirty="0"/>
              <a:t>low-level language)</a:t>
            </a:r>
            <a:r>
              <a:rPr lang="en-US" dirty="0"/>
              <a:t> program to </a:t>
            </a:r>
            <a:r>
              <a:rPr lang="en-US" b="1" dirty="0"/>
              <a:t>machine language</a:t>
            </a:r>
            <a:endParaRPr lang="en-IN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Assembler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33608"/>
            <a:ext cx="9144000" cy="303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443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b="1" dirty="0"/>
              <a:t>linker</a:t>
            </a:r>
            <a:r>
              <a:rPr lang="en-US" sz="2400" dirty="0"/>
              <a:t> is a special program that </a:t>
            </a:r>
            <a:r>
              <a:rPr lang="en-US" sz="2400" b="1" dirty="0">
                <a:solidFill>
                  <a:srgbClr val="0000FF"/>
                </a:solidFill>
              </a:rPr>
              <a:t>combines</a:t>
            </a:r>
            <a:r>
              <a:rPr lang="en-US" sz="2400" dirty="0"/>
              <a:t> the </a:t>
            </a:r>
            <a:r>
              <a:rPr lang="en-US" sz="2400" b="1" dirty="0">
                <a:solidFill>
                  <a:srgbClr val="C00000"/>
                </a:solidFill>
              </a:rPr>
              <a:t>object files, generated by the compiler/assembler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C00000"/>
                </a:solidFill>
              </a:rPr>
              <a:t>other pieces of code</a:t>
            </a:r>
            <a:r>
              <a:rPr lang="en-US" sz="2400" dirty="0"/>
              <a:t> to originate an </a:t>
            </a:r>
            <a:r>
              <a:rPr lang="en-US" sz="2400" b="1" dirty="0"/>
              <a:t>executable file </a:t>
            </a:r>
            <a:r>
              <a:rPr lang="en-US" sz="2400" dirty="0"/>
              <a:t>that has a </a:t>
            </a:r>
            <a:r>
              <a:rPr lang="en-US" sz="2400" b="1" dirty="0"/>
              <a:t>.exe </a:t>
            </a:r>
            <a:r>
              <a:rPr lang="en-US" sz="2400" dirty="0"/>
              <a:t>extension. </a:t>
            </a:r>
            <a:endParaRPr lang="en-IN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Linker</a:t>
            </a:r>
          </a:p>
        </p:txBody>
      </p:sp>
      <p:pic>
        <p:nvPicPr>
          <p:cNvPr id="1026" name="Picture 2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161" y="2667000"/>
            <a:ext cx="9115425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5841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It is special program that </a:t>
            </a:r>
            <a:r>
              <a:rPr lang="en-US" b="1" dirty="0">
                <a:solidFill>
                  <a:srgbClr val="0000FF"/>
                </a:solidFill>
              </a:rPr>
              <a:t>takes input of executable files from linker</a:t>
            </a:r>
            <a:r>
              <a:rPr lang="en-US" dirty="0"/>
              <a:t>, </a:t>
            </a:r>
            <a:r>
              <a:rPr lang="en-US" b="1" dirty="0">
                <a:solidFill>
                  <a:srgbClr val="0000FF"/>
                </a:solidFill>
              </a:rPr>
              <a:t>loads it to main memory</a:t>
            </a:r>
            <a:r>
              <a:rPr lang="en-US" dirty="0"/>
              <a:t>, and prepares this code for execution by computer. </a:t>
            </a:r>
          </a:p>
          <a:p>
            <a:r>
              <a:rPr lang="en-US" dirty="0"/>
              <a:t>Loader allocates memory space to program.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Loader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013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6"/>
          <p:cNvSpPr txBox="1"/>
          <p:nvPr/>
        </p:nvSpPr>
        <p:spPr>
          <a:xfrm>
            <a:off x="1198088" y="3123368"/>
            <a:ext cx="6824298" cy="110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85000"/>
                    <a:lumOff val="1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tr-TR" altLang="zh-CN" sz="6600" b="1" spc="-300" dirty="0">
                <a:solidFill>
                  <a:srgbClr val="08A1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华文中宋" panose="02010600040101010101" pitchFamily="2" charset="-122"/>
              </a:rPr>
              <a:t>THANK YOU !</a:t>
            </a:r>
            <a:endParaRPr lang="zh-CN" altLang="en-US" sz="6600" b="1" spc="-300" dirty="0">
              <a:solidFill>
                <a:srgbClr val="923C9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8640</TotalTime>
  <Words>413</Words>
  <Application>Microsoft Office PowerPoint</Application>
  <PresentationFormat>On-screen Show (4:3)</PresentationFormat>
  <Paragraphs>36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Integrated Development Environment (IDE)</vt:lpstr>
      <vt:lpstr>PowerPoint Presentation</vt:lpstr>
      <vt:lpstr>Compiler</vt:lpstr>
      <vt:lpstr>Compiler</vt:lpstr>
      <vt:lpstr>Interpreter</vt:lpstr>
      <vt:lpstr>Interpreter</vt:lpstr>
      <vt:lpstr>Assembler</vt:lpstr>
      <vt:lpstr>Linker</vt:lpstr>
      <vt:lpstr>Loader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panduraju pagidimalla</cp:lastModifiedBy>
  <cp:revision>500</cp:revision>
  <dcterms:created xsi:type="dcterms:W3CDTF">2022-12-01T06:56:39Z</dcterms:created>
  <dcterms:modified xsi:type="dcterms:W3CDTF">2024-10-18T07:26:15Z</dcterms:modified>
</cp:coreProperties>
</file>