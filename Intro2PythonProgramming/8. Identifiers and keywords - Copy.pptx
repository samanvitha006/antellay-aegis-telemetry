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79" r:id="rId2"/>
    <p:sldId id="527" r:id="rId3"/>
    <p:sldId id="531" r:id="rId4"/>
    <p:sldId id="549" r:id="rId5"/>
    <p:sldId id="550" r:id="rId6"/>
    <p:sldId id="551" r:id="rId7"/>
    <p:sldId id="552" r:id="rId8"/>
    <p:sldId id="553" r:id="rId9"/>
    <p:sldId id="541" r:id="rId10"/>
    <p:sldId id="545" r:id="rId11"/>
    <p:sldId id="540" r:id="rId12"/>
    <p:sldId id="538" r:id="rId13"/>
    <p:sldId id="546" r:id="rId14"/>
    <p:sldId id="548" r:id="rId15"/>
    <p:sldId id="539" r:id="rId16"/>
    <p:sldId id="28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00"/>
    <a:srgbClr val="666633"/>
    <a:srgbClr val="000000"/>
    <a:srgbClr val="FF00FF"/>
    <a:srgbClr val="993366"/>
    <a:srgbClr val="A50021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92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E66BF5-F676-4E17-AB86-E138237E1E8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2C62E-8EEF-49B5-A843-EDF193BC65C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85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6312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  <a:pPr marL="0" marR="0" lvl="0" indent="0" algn="r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1470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457200" y="1371600"/>
            <a:ext cx="830580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685800" y="1600200"/>
            <a:ext cx="7924800" cy="381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/>
          <p:cNvSpPr txBox="1"/>
          <p:nvPr userDrawn="1"/>
        </p:nvSpPr>
        <p:spPr>
          <a:xfrm rot="19858487">
            <a:off x="-298088" y="1009160"/>
            <a:ext cx="2573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0" dirty="0" err="1">
                <a:solidFill>
                  <a:srgbClr val="BEBEBE"/>
                </a:solidFill>
              </a:rPr>
              <a:t>Mr.Panduraju</a:t>
            </a:r>
            <a:r>
              <a:rPr lang="en-US" baseline="0" dirty="0">
                <a:solidFill>
                  <a:srgbClr val="BEBEBE"/>
                </a:solidFill>
              </a:rPr>
              <a:t> Pagidimalla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9AD40-3D31-41B8-BC7C-4ED9FE9DE8B7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E67C3-D9F0-49BE-B5AD-14B2B6BF85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Line 6"/>
          <p:cNvSpPr>
            <a:spLocks noChangeShapeType="1"/>
          </p:cNvSpPr>
          <p:nvPr userDrawn="1"/>
        </p:nvSpPr>
        <p:spPr bwMode="auto">
          <a:xfrm>
            <a:off x="228600" y="5334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8" name="Line 6"/>
          <p:cNvSpPr>
            <a:spLocks noChangeShapeType="1"/>
          </p:cNvSpPr>
          <p:nvPr userDrawn="1"/>
        </p:nvSpPr>
        <p:spPr bwMode="auto">
          <a:xfrm>
            <a:off x="228600" y="990600"/>
            <a:ext cx="8610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Line 6"/>
          <p:cNvSpPr>
            <a:spLocks noChangeShapeType="1"/>
          </p:cNvSpPr>
          <p:nvPr userDrawn="1"/>
        </p:nvSpPr>
        <p:spPr bwMode="auto">
          <a:xfrm>
            <a:off x="304800" y="6096000"/>
            <a:ext cx="86106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62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99030" y="1981200"/>
            <a:ext cx="4974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5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Mr.Panduraju</a:t>
            </a:r>
            <a:r>
              <a:rPr lang="en-US" altLang="zh-CN" sz="35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Pagidimalla</a:t>
            </a:r>
          </a:p>
        </p:txBody>
      </p:sp>
      <p:sp>
        <p:nvSpPr>
          <p:cNvPr id="8" name="文本框 6"/>
          <p:cNvSpPr txBox="1"/>
          <p:nvPr/>
        </p:nvSpPr>
        <p:spPr>
          <a:xfrm>
            <a:off x="914400" y="457200"/>
            <a:ext cx="7772400" cy="95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spc="-3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itchFamily="34" charset="0"/>
                <a:ea typeface="华文中宋" panose="02010600040101010101" pitchFamily="2" charset="-122"/>
              </a:rPr>
              <a:t>PROBLEM SOLVING AND PROGRAMMING USING PYTHON</a:t>
            </a:r>
            <a:endParaRPr lang="zh-CN" altLang="en-US" sz="2800" b="1" spc="-3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itchFamily="34" charset="0"/>
              <a:ea typeface="华文中宋" panose="02010600040101010101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4600" y="2590800"/>
            <a:ext cx="3280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Assistant Professor, Dept of AIML</a:t>
            </a: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815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905000" y="2710190"/>
            <a:ext cx="46165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Unit-I: Introduction to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Line 2"/>
          <p:cNvSpPr>
            <a:spLocks noChangeShapeType="1"/>
          </p:cNvSpPr>
          <p:nvPr/>
        </p:nvSpPr>
        <p:spPr bwMode="auto">
          <a:xfrm>
            <a:off x="439738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>
            <a:off x="439738" y="3276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810169" y="2710190"/>
            <a:ext cx="38615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00FF"/>
                </a:solidFill>
              </a:rPr>
              <a:t>Identifiers and keywords</a:t>
            </a:r>
          </a:p>
        </p:txBody>
      </p:sp>
    </p:spTree>
    <p:extLst>
      <p:ext uri="{BB962C8B-B14F-4D97-AF65-F5344CB8AC3E}">
        <p14:creationId xmlns:p14="http://schemas.microsoft.com/office/powerpoint/2010/main" val="3595914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Python programming, keywords are </a:t>
            </a:r>
            <a:r>
              <a:rPr lang="en-US" b="1" dirty="0"/>
              <a:t>reserved words </a:t>
            </a:r>
            <a:r>
              <a:rPr lang="en-US" dirty="0"/>
              <a:t>that hold a </a:t>
            </a:r>
            <a:r>
              <a:rPr lang="en-US" b="1" dirty="0">
                <a:solidFill>
                  <a:srgbClr val="0000FF"/>
                </a:solidFill>
              </a:rPr>
              <a:t>specific meaning </a:t>
            </a:r>
            <a:r>
              <a:rPr lang="en-US" dirty="0"/>
              <a:t>and are a part of the language's syntax.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Keywords</a:t>
            </a:r>
          </a:p>
        </p:txBody>
      </p:sp>
    </p:spTree>
    <p:extLst>
      <p:ext uri="{BB962C8B-B14F-4D97-AF65-F5344CB8AC3E}">
        <p14:creationId xmlns:p14="http://schemas.microsoft.com/office/powerpoint/2010/main" val="260434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0000FF"/>
                </a:solidFill>
              </a:rPr>
              <a:t>Reserved Use</a:t>
            </a:r>
            <a:r>
              <a:rPr lang="en-US" dirty="0"/>
              <a:t>: Keywords have </a:t>
            </a:r>
            <a:r>
              <a:rPr lang="en-US" b="1" dirty="0"/>
              <a:t>specific, predefined uses </a:t>
            </a:r>
            <a:r>
              <a:rPr lang="en-US" dirty="0"/>
              <a:t>and </a:t>
            </a:r>
            <a:r>
              <a:rPr lang="en-US" b="1" dirty="0"/>
              <a:t>cannot be altered.</a:t>
            </a:r>
          </a:p>
          <a:p>
            <a:r>
              <a:rPr lang="en-US" b="1" dirty="0">
                <a:solidFill>
                  <a:srgbClr val="0000FF"/>
                </a:solidFill>
              </a:rPr>
              <a:t>Case Sensitivity</a:t>
            </a:r>
            <a:r>
              <a:rPr lang="en-US" dirty="0"/>
              <a:t>: Python keywords are </a:t>
            </a:r>
            <a:r>
              <a:rPr lang="en-US" b="1" dirty="0"/>
              <a:t>case-sensitive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0000FF"/>
                </a:solidFill>
              </a:rPr>
              <a:t>No Identifier Usage</a:t>
            </a:r>
            <a:r>
              <a:rPr lang="en-US" dirty="0"/>
              <a:t>: Keywords </a:t>
            </a:r>
            <a:r>
              <a:rPr lang="en-US" b="1" dirty="0"/>
              <a:t>cannot be used as variable names, function names</a:t>
            </a:r>
            <a:r>
              <a:rPr lang="en-US" dirty="0"/>
              <a:t>, or other identifiers.</a:t>
            </a:r>
          </a:p>
          <a:p>
            <a:r>
              <a:rPr lang="en-US" b="1" dirty="0">
                <a:solidFill>
                  <a:srgbClr val="0000FF"/>
                </a:solidFill>
              </a:rPr>
              <a:t>Fixed Number</a:t>
            </a:r>
            <a:r>
              <a:rPr lang="en-US" dirty="0"/>
              <a:t>: The keywords are </a:t>
            </a:r>
            <a:r>
              <a:rPr lang="en-US" b="1" dirty="0"/>
              <a:t>fixed</a:t>
            </a:r>
            <a:r>
              <a:rPr lang="en-US" dirty="0"/>
              <a:t> and vary with Python versions.</a:t>
            </a:r>
          </a:p>
          <a:p>
            <a:r>
              <a:rPr lang="en-US" b="1" dirty="0">
                <a:solidFill>
                  <a:srgbClr val="0000FF"/>
                </a:solidFill>
              </a:rPr>
              <a:t>Non-Modifiable</a:t>
            </a:r>
            <a:r>
              <a:rPr lang="en-US" dirty="0"/>
              <a:t>: Keywords are part of Python's syntax and </a:t>
            </a:r>
            <a:r>
              <a:rPr lang="en-US" b="1" dirty="0"/>
              <a:t>cannot be modified.</a:t>
            </a:r>
          </a:p>
          <a:p>
            <a:r>
              <a:rPr lang="en-US" b="1" dirty="0">
                <a:solidFill>
                  <a:srgbClr val="0000FF"/>
                </a:solidFill>
              </a:rPr>
              <a:t>Syntax Compliance</a:t>
            </a:r>
            <a:r>
              <a:rPr lang="en-US" dirty="0"/>
              <a:t>: Keywords must be </a:t>
            </a:r>
            <a:r>
              <a:rPr lang="en-US" b="1" dirty="0"/>
              <a:t>used according to Python's syntax rules.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6666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Keywords in Python</a:t>
            </a:r>
            <a:endParaRPr lang="en-IN" dirty="0">
              <a:solidFill>
                <a:srgbClr val="6666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7688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Keywords</a:t>
            </a:r>
          </a:p>
        </p:txBody>
      </p:sp>
      <p:pic>
        <p:nvPicPr>
          <p:cNvPr id="2054" name="Picture 6" descr="Zero to Hero in Python in 30 Days: Day 2: Values, Variables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153" y="1600200"/>
            <a:ext cx="8116627" cy="281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19200" y="5181600"/>
            <a:ext cx="6293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Note: </a:t>
            </a:r>
            <a:r>
              <a:rPr lang="en-IN" dirty="0"/>
              <a:t>All keywords except </a:t>
            </a:r>
            <a:r>
              <a:rPr lang="en-IN" b="1" dirty="0"/>
              <a:t>None</a:t>
            </a:r>
            <a:r>
              <a:rPr lang="en-IN" dirty="0"/>
              <a:t>, </a:t>
            </a:r>
            <a:r>
              <a:rPr lang="en-IN" b="1" dirty="0"/>
              <a:t>True</a:t>
            </a:r>
            <a:r>
              <a:rPr lang="en-IN" dirty="0"/>
              <a:t>, and </a:t>
            </a:r>
            <a:r>
              <a:rPr lang="en-IN" b="1" dirty="0"/>
              <a:t>False </a:t>
            </a:r>
            <a:r>
              <a:rPr lang="en-IN" dirty="0"/>
              <a:t>are in lowercase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547157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Example: </a:t>
            </a:r>
            <a:r>
              <a:rPr lang="en-US" dirty="0">
                <a:solidFill>
                  <a:srgbClr val="FF00FF"/>
                </a:solidFill>
              </a:rPr>
              <a:t>and</a:t>
            </a:r>
            <a:r>
              <a:rPr lang="en-US" dirty="0"/>
              <a:t>, </a:t>
            </a:r>
            <a:r>
              <a:rPr lang="en-US" dirty="0">
                <a:solidFill>
                  <a:srgbClr val="FF00FF"/>
                </a:solidFill>
              </a:rPr>
              <a:t>or</a:t>
            </a:r>
            <a:r>
              <a:rPr lang="en-US" dirty="0"/>
              <a:t>, </a:t>
            </a:r>
            <a:r>
              <a:rPr lang="en-US" dirty="0">
                <a:solidFill>
                  <a:srgbClr val="FF00FF"/>
                </a:solidFill>
              </a:rPr>
              <a:t>not</a:t>
            </a:r>
            <a:r>
              <a:rPr lang="en-US" dirty="0"/>
              <a:t>, </a:t>
            </a:r>
            <a:r>
              <a:rPr lang="en-US" dirty="0">
                <a:solidFill>
                  <a:srgbClr val="FF00FF"/>
                </a:solidFill>
              </a:rPr>
              <a:t>True</a:t>
            </a:r>
            <a:r>
              <a:rPr lang="en-US" dirty="0"/>
              <a:t>, </a:t>
            </a:r>
            <a:r>
              <a:rPr lang="en-US" dirty="0">
                <a:solidFill>
                  <a:srgbClr val="FF00FF"/>
                </a:solidFill>
              </a:rPr>
              <a:t>False</a:t>
            </a:r>
            <a:r>
              <a:rPr lang="en-US" dirty="0"/>
              <a:t> Keywords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133600"/>
            <a:ext cx="322868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7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Example: </a:t>
            </a:r>
            <a:r>
              <a:rPr lang="en-US" dirty="0">
                <a:solidFill>
                  <a:srgbClr val="FF00FF"/>
                </a:solidFill>
              </a:rPr>
              <a:t>for</a:t>
            </a:r>
            <a:r>
              <a:rPr lang="en-US" dirty="0"/>
              <a:t>, </a:t>
            </a:r>
            <a:r>
              <a:rPr lang="en-US" dirty="0">
                <a:solidFill>
                  <a:srgbClr val="FF00FF"/>
                </a:solidFill>
              </a:rPr>
              <a:t>in</a:t>
            </a:r>
            <a:r>
              <a:rPr lang="en-US" dirty="0"/>
              <a:t>, </a:t>
            </a:r>
            <a:r>
              <a:rPr lang="en-US" dirty="0">
                <a:solidFill>
                  <a:srgbClr val="FF00FF"/>
                </a:solidFill>
              </a:rPr>
              <a:t>if</a:t>
            </a:r>
            <a:r>
              <a:rPr lang="en-US" dirty="0"/>
              <a:t>, </a:t>
            </a:r>
            <a:r>
              <a:rPr lang="en-US" dirty="0" err="1">
                <a:solidFill>
                  <a:srgbClr val="FF00FF"/>
                </a:solidFill>
              </a:rPr>
              <a:t>elif</a:t>
            </a:r>
            <a:r>
              <a:rPr lang="en-US" dirty="0"/>
              <a:t> Keywords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09800"/>
            <a:ext cx="7227199" cy="25099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3" y="3924008"/>
            <a:ext cx="1152686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59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 programming languages, identifiers are </a:t>
            </a:r>
            <a:r>
              <a:rPr lang="en-US" b="1" dirty="0"/>
              <a:t>names</a:t>
            </a:r>
            <a:r>
              <a:rPr lang="en-US" dirty="0"/>
              <a:t> used to identify a </a:t>
            </a:r>
            <a:r>
              <a:rPr lang="en-US" b="1" dirty="0">
                <a:solidFill>
                  <a:srgbClr val="FF0000"/>
                </a:solidFill>
              </a:rPr>
              <a:t>variable</a:t>
            </a:r>
            <a:r>
              <a:rPr lang="en-US" dirty="0"/>
              <a:t>, </a:t>
            </a:r>
            <a:r>
              <a:rPr lang="en-US" b="1" dirty="0">
                <a:solidFill>
                  <a:srgbClr val="00B050"/>
                </a:solidFill>
              </a:rPr>
              <a:t>function</a:t>
            </a:r>
            <a:r>
              <a:rPr lang="en-US" dirty="0"/>
              <a:t>, or </a:t>
            </a:r>
            <a:r>
              <a:rPr lang="en-US" b="1" dirty="0"/>
              <a:t>other entities </a:t>
            </a:r>
            <a:r>
              <a:rPr lang="en-US" dirty="0"/>
              <a:t>in a program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431650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name </a:t>
            </a:r>
            <a:r>
              <a:rPr lang="en-US" b="1" dirty="0">
                <a:solidFill>
                  <a:srgbClr val="C00000"/>
                </a:solidFill>
              </a:rPr>
              <a:t>must start with a letter </a:t>
            </a:r>
            <a:r>
              <a:rPr lang="en-US" dirty="0"/>
              <a:t>(uppercase or a lowercase alphabet) or the underscore (_) character</a:t>
            </a:r>
          </a:p>
          <a:p>
            <a:r>
              <a:rPr lang="en-US" dirty="0"/>
              <a:t>An identifier </a:t>
            </a:r>
            <a:r>
              <a:rPr lang="en-US" b="1" dirty="0">
                <a:solidFill>
                  <a:srgbClr val="C00000"/>
                </a:solidFill>
              </a:rPr>
              <a:t>cannot start with a number</a:t>
            </a:r>
          </a:p>
          <a:p>
            <a:r>
              <a:rPr lang="en-US" dirty="0"/>
              <a:t>An identifier can </a:t>
            </a:r>
            <a:r>
              <a:rPr lang="en-US" b="1" dirty="0">
                <a:solidFill>
                  <a:srgbClr val="C00000"/>
                </a:solidFill>
              </a:rPr>
              <a:t>only contain alpha-numeric </a:t>
            </a:r>
            <a:r>
              <a:rPr lang="en-US" dirty="0"/>
              <a:t>characters and underscores (A-z, 0-9, and _ )</a:t>
            </a:r>
          </a:p>
          <a:p>
            <a:r>
              <a:rPr lang="en-US" dirty="0"/>
              <a:t>Variable names are </a:t>
            </a:r>
            <a:r>
              <a:rPr lang="en-US" b="1" dirty="0">
                <a:solidFill>
                  <a:srgbClr val="C00000"/>
                </a:solidFill>
              </a:rPr>
              <a:t>case-sensitive</a:t>
            </a:r>
            <a:r>
              <a:rPr lang="en-US" dirty="0"/>
              <a:t> (age, Age and AGE are three different variables)</a:t>
            </a:r>
          </a:p>
          <a:p>
            <a:r>
              <a:rPr lang="en-US" dirty="0"/>
              <a:t>A variable name </a:t>
            </a:r>
            <a:r>
              <a:rPr lang="en-US" b="1" dirty="0">
                <a:solidFill>
                  <a:srgbClr val="C00000"/>
                </a:solidFill>
              </a:rPr>
              <a:t>cannot be any </a:t>
            </a:r>
            <a:r>
              <a:rPr lang="en-US" dirty="0">
                <a:solidFill>
                  <a:srgbClr val="C00000"/>
                </a:solidFill>
              </a:rPr>
              <a:t>of the </a:t>
            </a:r>
            <a:r>
              <a:rPr lang="en-US" b="1" dirty="0">
                <a:solidFill>
                  <a:srgbClr val="0000FF"/>
                </a:solidFill>
              </a:rPr>
              <a:t>Python keywords.</a:t>
            </a:r>
          </a:p>
          <a:p>
            <a:r>
              <a:rPr lang="en-US" dirty="0"/>
              <a:t>We </a:t>
            </a:r>
            <a:r>
              <a:rPr lang="en-US" b="1" dirty="0">
                <a:solidFill>
                  <a:srgbClr val="C00000"/>
                </a:solidFill>
              </a:rPr>
              <a:t>cannot use special symbols </a:t>
            </a:r>
            <a:r>
              <a:rPr lang="en-US" dirty="0"/>
              <a:t>like </a:t>
            </a:r>
            <a:r>
              <a:rPr lang="en-US" b="1" dirty="0">
                <a:solidFill>
                  <a:srgbClr val="C00000"/>
                </a:solidFill>
              </a:rPr>
              <a:t>!, @, #, $, %, </a:t>
            </a:r>
            <a:r>
              <a:rPr lang="en-US" dirty="0"/>
              <a:t>etc., in identifiers.</a:t>
            </a:r>
            <a:endParaRPr lang="en-IN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33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rules for naming an identifier in Python</a:t>
            </a:r>
            <a:endParaRPr lang="en-IN" sz="2800" dirty="0">
              <a:solidFill>
                <a:srgbClr val="3333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4655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 variable is </a:t>
            </a:r>
            <a:r>
              <a:rPr lang="en-US" b="1" dirty="0">
                <a:solidFill>
                  <a:srgbClr val="0000FF"/>
                </a:solidFill>
              </a:rPr>
              <a:t>a location in memory </a:t>
            </a:r>
            <a:r>
              <a:rPr lang="en-US" dirty="0"/>
              <a:t>used </a:t>
            </a:r>
            <a:r>
              <a:rPr lang="en-US" b="1" dirty="0"/>
              <a:t>to store some data </a:t>
            </a:r>
            <a:r>
              <a:rPr lang="en-US" dirty="0"/>
              <a:t>(</a:t>
            </a:r>
            <a:r>
              <a:rPr lang="en-US" b="1" dirty="0">
                <a:solidFill>
                  <a:srgbClr val="0000FF"/>
                </a:solidFill>
              </a:rPr>
              <a:t>value</a:t>
            </a:r>
            <a:r>
              <a:rPr lang="en-US" dirty="0"/>
              <a:t>).</a:t>
            </a:r>
          </a:p>
          <a:p>
            <a:r>
              <a:rPr lang="en-US" dirty="0"/>
              <a:t>They are given unique names to differentiate between different memory locations. </a:t>
            </a:r>
          </a:p>
          <a:p>
            <a:pPr lvl="1"/>
            <a:r>
              <a:rPr lang="en-US" dirty="0"/>
              <a:t>The </a:t>
            </a:r>
            <a:r>
              <a:rPr lang="en-US" b="1" dirty="0">
                <a:solidFill>
                  <a:srgbClr val="C00000"/>
                </a:solidFill>
              </a:rPr>
              <a:t>rules for writing a variable name is same as the rules for writing identifiers </a:t>
            </a:r>
            <a:r>
              <a:rPr lang="en-US" dirty="0"/>
              <a:t>in Python.</a:t>
            </a:r>
          </a:p>
          <a:p>
            <a:r>
              <a:rPr lang="en-US" dirty="0"/>
              <a:t>In Python, we </a:t>
            </a:r>
            <a:r>
              <a:rPr lang="en-US" b="1" dirty="0"/>
              <a:t>simply assign a value </a:t>
            </a:r>
            <a:r>
              <a:rPr lang="en-US" dirty="0"/>
              <a:t>to a variable and it will exist.</a:t>
            </a:r>
          </a:p>
          <a:p>
            <a:r>
              <a:rPr lang="en-US" dirty="0"/>
              <a:t>We </a:t>
            </a:r>
            <a:r>
              <a:rPr lang="en-US" b="1" dirty="0">
                <a:solidFill>
                  <a:srgbClr val="C00000"/>
                </a:solidFill>
              </a:rPr>
              <a:t>don't even have to declare the type of the variable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This is handled internally according to the type of value we assign to the variable.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Variables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924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1026" name="Picture 2" descr="https://miro.medium.com/v2/resize:fit:564/1*nbnwA9n-RebunC2-hEHXu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05000"/>
            <a:ext cx="53721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607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Example Variables</a:t>
            </a:r>
            <a:endParaRPr lang="en-IN" dirty="0">
              <a:solidFill>
                <a:srgbClr val="7030A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96536"/>
              </p:ext>
            </p:extLst>
          </p:nvPr>
        </p:nvGraphicFramePr>
        <p:xfrm>
          <a:off x="1524000" y="1219200"/>
          <a:ext cx="5562600" cy="45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Valid/Invalid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</a:t>
                      </a:r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=23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IN" sz="2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</a:t>
                      </a:r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=45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@name="python"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IN" sz="2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</a:t>
                      </a:r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=45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456=3.4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IN" sz="24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</a:t>
                      </a:r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_=45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_=56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__=5.6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--=45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539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7030A0"/>
                </a:solidFill>
              </a:rPr>
              <a:t>Example Variables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658540"/>
              </p:ext>
            </p:extLst>
          </p:nvPr>
        </p:nvGraphicFramePr>
        <p:xfrm>
          <a:off x="1790700" y="1219200"/>
          <a:ext cx="5562600" cy="1828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Valid/Invalid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sal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=45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tot_marks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=456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tot#sal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=56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046414"/>
              </p:ext>
            </p:extLst>
          </p:nvPr>
        </p:nvGraphicFramePr>
        <p:xfrm>
          <a:off x="1828800" y="3429000"/>
          <a:ext cx="5562600" cy="2286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400" dirty="0"/>
                        <a:t>Variable assignment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Valid/Invalid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if=45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else=67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if1=56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 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_else=67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Valid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76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Multiple Assignments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79806"/>
            <a:ext cx="7696200" cy="472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031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6"/>
          <p:cNvSpPr txBox="1"/>
          <p:nvPr/>
        </p:nvSpPr>
        <p:spPr>
          <a:xfrm>
            <a:off x="1198088" y="3123368"/>
            <a:ext cx="6824298" cy="110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85000"/>
                    <a:lumOff val="15000"/>
                  </a:schemeClr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tr-TR" altLang="zh-CN" sz="6600" b="1" spc="-300" dirty="0">
                <a:solidFill>
                  <a:srgbClr val="08A1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华文中宋" panose="02010600040101010101" pitchFamily="2" charset="-122"/>
              </a:rPr>
              <a:t>THANK YOU !</a:t>
            </a:r>
            <a:endParaRPr lang="zh-CN" altLang="en-US" sz="6600" b="1" spc="-300" dirty="0">
              <a:solidFill>
                <a:srgbClr val="92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9007</TotalTime>
  <Words>468</Words>
  <Application>Microsoft Office PowerPoint</Application>
  <PresentationFormat>On-screen Show (4:3)</PresentationFormat>
  <Paragraphs>78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Keywords</vt:lpstr>
      <vt:lpstr>Rules for Keywords in Python</vt:lpstr>
      <vt:lpstr>Keywords</vt:lpstr>
      <vt:lpstr>PowerPoint Presentation</vt:lpstr>
      <vt:lpstr>PowerPoint Presentation</vt:lpstr>
      <vt:lpstr>Identifiers</vt:lpstr>
      <vt:lpstr>The rules for naming an identifier in Python</vt:lpstr>
      <vt:lpstr>Variables</vt:lpstr>
      <vt:lpstr>PowerPoint Presentation</vt:lpstr>
      <vt:lpstr>Example Variables</vt:lpstr>
      <vt:lpstr>Example Variables</vt:lpstr>
      <vt:lpstr>Multiple Assignments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panduraju pagidimalla</cp:lastModifiedBy>
  <cp:revision>597</cp:revision>
  <dcterms:created xsi:type="dcterms:W3CDTF">2022-12-01T06:56:39Z</dcterms:created>
  <dcterms:modified xsi:type="dcterms:W3CDTF">2024-10-18T07:23:50Z</dcterms:modified>
</cp:coreProperties>
</file>