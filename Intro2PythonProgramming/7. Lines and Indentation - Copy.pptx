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9" r:id="rId2"/>
    <p:sldId id="527" r:id="rId3"/>
    <p:sldId id="531" r:id="rId4"/>
    <p:sldId id="545" r:id="rId5"/>
    <p:sldId id="546" r:id="rId6"/>
    <p:sldId id="547" r:id="rId7"/>
    <p:sldId id="548" r:id="rId8"/>
    <p:sldId id="533" r:id="rId9"/>
    <p:sldId id="532" r:id="rId10"/>
    <p:sldId id="538" r:id="rId11"/>
    <p:sldId id="539" r:id="rId12"/>
    <p:sldId id="540" r:id="rId13"/>
    <p:sldId id="541" r:id="rId14"/>
    <p:sldId id="542" r:id="rId15"/>
    <p:sldId id="543" r:id="rId16"/>
    <p:sldId id="544" r:id="rId17"/>
    <p:sldId id="28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993366"/>
    <a:srgbClr val="A50021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9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66BF5-F676-4E17-AB86-E138237E1E8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2C62E-8EEF-49B5-A843-EDF193BC65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6312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147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57200" y="1371600"/>
            <a:ext cx="83058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85800" y="1600200"/>
            <a:ext cx="7924800" cy="381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228600" y="5334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Line 6"/>
          <p:cNvSpPr>
            <a:spLocks noChangeShapeType="1"/>
          </p:cNvSpPr>
          <p:nvPr userDrawn="1"/>
        </p:nvSpPr>
        <p:spPr bwMode="auto">
          <a:xfrm>
            <a:off x="228600" y="990600"/>
            <a:ext cx="86106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Line 6"/>
          <p:cNvSpPr>
            <a:spLocks noChangeShapeType="1"/>
          </p:cNvSpPr>
          <p:nvPr userDrawn="1"/>
        </p:nvSpPr>
        <p:spPr bwMode="auto">
          <a:xfrm>
            <a:off x="304800" y="60960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2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99030" y="1981200"/>
            <a:ext cx="4974888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5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Mr.Panduraju</a:t>
            </a:r>
            <a:r>
              <a:rPr lang="en-US" altLang="zh-CN" sz="35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Pagidimalla</a:t>
            </a:r>
          </a:p>
        </p:txBody>
      </p:sp>
      <p:sp>
        <p:nvSpPr>
          <p:cNvPr id="8" name="文本框 6"/>
          <p:cNvSpPr txBox="1"/>
          <p:nvPr/>
        </p:nvSpPr>
        <p:spPr>
          <a:xfrm>
            <a:off x="914400" y="457200"/>
            <a:ext cx="7772400" cy="95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  <a:ea typeface="华文中宋" panose="02010600040101010101" pitchFamily="2" charset="-122"/>
              </a:rPr>
              <a:t>PROBLEM SOLVING AND PROGRAMMING USING PYTHON</a:t>
            </a:r>
            <a:endParaRPr lang="zh-CN" altLang="en-US" sz="2800" b="1" spc="-3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  <a:ea typeface="华文中宋" panose="020106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4600" y="2590800"/>
            <a:ext cx="328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Assistant Professor, Dept of AIML</a:t>
            </a: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905000" y="2710190"/>
            <a:ext cx="4616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Unit-I: Introduction to Python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9738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810169" y="2710190"/>
            <a:ext cx="3412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Lines and Indentation</a:t>
            </a:r>
          </a:p>
        </p:txBody>
      </p:sp>
    </p:spTree>
    <p:extLst>
      <p:ext uri="{BB962C8B-B14F-4D97-AF65-F5344CB8AC3E}">
        <p14:creationId xmlns:p14="http://schemas.microsoft.com/office/powerpoint/2010/main" val="359591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 python, </a:t>
            </a:r>
            <a:r>
              <a:rPr lang="en-US" b="1" dirty="0"/>
              <a:t>lines</a:t>
            </a:r>
            <a:r>
              <a:rPr lang="en-US" dirty="0"/>
              <a:t> refer to individual </a:t>
            </a:r>
            <a:r>
              <a:rPr lang="en-US" b="1" dirty="0"/>
              <a:t>statements</a:t>
            </a:r>
            <a:r>
              <a:rPr lang="en-US" dirty="0"/>
              <a:t> or </a:t>
            </a:r>
            <a:r>
              <a:rPr lang="en-US" b="1" dirty="0"/>
              <a:t>expressions</a:t>
            </a:r>
            <a:r>
              <a:rPr lang="en-US" dirty="0"/>
              <a:t> written sequentially in the code. Each line typically contains one instruction or command that the interpreter executes. 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LINES 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323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These lines can contain: </a:t>
            </a:r>
          </a:p>
          <a:p>
            <a:r>
              <a:rPr lang="en-US" b="1" dirty="0">
                <a:solidFill>
                  <a:srgbClr val="FF00FF"/>
                </a:solidFill>
              </a:rPr>
              <a:t>Statements</a:t>
            </a:r>
            <a:r>
              <a:rPr lang="en-US" b="1" dirty="0"/>
              <a:t>: </a:t>
            </a:r>
            <a:r>
              <a:rPr lang="en-US" dirty="0"/>
              <a:t>an operation like an assignment, loop, or function definition. </a:t>
            </a:r>
          </a:p>
          <a:p>
            <a:pPr lvl="1"/>
            <a:r>
              <a:rPr lang="en-IN" dirty="0"/>
              <a:t>For example: 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US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x = 5 </a:t>
            </a:r>
          </a:p>
          <a:p>
            <a:pPr marL="0" indent="0">
              <a:buNone/>
            </a:pPr>
            <a:r>
              <a:rPr lang="en-IN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	print(x) </a:t>
            </a:r>
            <a:endParaRPr lang="en-US" dirty="0"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21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Expressions</a:t>
            </a:r>
            <a:r>
              <a:rPr lang="en-US" b="1" dirty="0"/>
              <a:t>: </a:t>
            </a:r>
            <a:r>
              <a:rPr lang="en-US" dirty="0"/>
              <a:t>an operation that evaluates to a value </a:t>
            </a:r>
          </a:p>
          <a:p>
            <a:pPr lvl="1"/>
            <a:r>
              <a:rPr lang="en-IN" dirty="0"/>
              <a:t>Example: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y = 2 + 3 </a:t>
            </a:r>
          </a:p>
          <a:p>
            <a:r>
              <a:rPr lang="en-US" b="1" dirty="0">
                <a:solidFill>
                  <a:srgbClr val="FF00FF"/>
                </a:solidFill>
              </a:rPr>
              <a:t>Comments</a:t>
            </a:r>
            <a:r>
              <a:rPr lang="en-US" dirty="0"/>
              <a:t>: lines that are not executed, used for documentation or to leave notes: </a:t>
            </a:r>
          </a:p>
          <a:p>
            <a:pPr lvl="1"/>
            <a:r>
              <a:rPr lang="en-IN" dirty="0"/>
              <a:t>Example: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# this is a comment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355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00FF"/>
                </a:solidFill>
              </a:rPr>
              <a:t>Blank lines</a:t>
            </a:r>
            <a:r>
              <a:rPr lang="en-US" b="1" dirty="0"/>
              <a:t>: </a:t>
            </a:r>
            <a:r>
              <a:rPr lang="en-US" dirty="0"/>
              <a:t>empty lines used to make the code more readable. </a:t>
            </a:r>
          </a:p>
          <a:p>
            <a:r>
              <a:rPr lang="en-US" b="1" dirty="0">
                <a:solidFill>
                  <a:srgbClr val="FF00FF"/>
                </a:solidFill>
              </a:rPr>
              <a:t>Multiline statements</a:t>
            </a:r>
            <a:r>
              <a:rPr lang="en-US" b="1" dirty="0"/>
              <a:t>: </a:t>
            </a:r>
            <a:r>
              <a:rPr lang="en-US" dirty="0"/>
              <a:t>some statements can span multiple lines, using backslashes (`\`) or parentheses: </a:t>
            </a:r>
          </a:p>
          <a:p>
            <a:pPr lvl="1"/>
            <a:r>
              <a:rPr lang="en-IN" dirty="0"/>
              <a:t>Example: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total = (1 + 2 + </a:t>
            </a:r>
          </a:p>
          <a:p>
            <a:pPr marL="0" indent="0">
              <a:buNone/>
            </a:pPr>
            <a:r>
              <a:rPr lang="en-US" dirty="0"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		3 + 4) # a multiline statement using parentheses. </a:t>
            </a:r>
            <a:endParaRPr lang="en-IN" dirty="0"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011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Indentation</a:t>
            </a:r>
            <a:r>
              <a:rPr lang="en-US" dirty="0"/>
              <a:t> in Python refers to the </a:t>
            </a:r>
            <a:r>
              <a:rPr lang="en-US" b="1" dirty="0">
                <a:solidFill>
                  <a:srgbClr val="0000FF"/>
                </a:solidFill>
              </a:rPr>
              <a:t>whitespaces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b="1" dirty="0"/>
              <a:t>at the start of the line </a:t>
            </a:r>
            <a:r>
              <a:rPr lang="en-US" dirty="0"/>
              <a:t>to</a:t>
            </a:r>
            <a:r>
              <a:rPr lang="en-US" b="1" dirty="0">
                <a:solidFill>
                  <a:srgbClr val="C00000"/>
                </a:solidFill>
              </a:rPr>
              <a:t> indicate a block of code</a:t>
            </a:r>
            <a:r>
              <a:rPr lang="en-US" dirty="0"/>
              <a:t>. We can create an indentation using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space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tabs</a:t>
            </a:r>
            <a:r>
              <a:rPr lang="en-US" dirty="0"/>
              <a:t>. 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Indentation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13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44498"/>
            <a:ext cx="5287113" cy="26768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3581400"/>
            <a:ext cx="6324600" cy="278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54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err="1">
                <a:solidFill>
                  <a:srgbClr val="FF0000"/>
                </a:solidFill>
              </a:rPr>
              <a:t>IndentationError</a:t>
            </a:r>
            <a:r>
              <a:rPr lang="en-IN" b="1" dirty="0">
                <a:solidFill>
                  <a:srgbClr val="FF0000"/>
                </a:solidFill>
              </a:rPr>
              <a:t> 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9" y="1524000"/>
            <a:ext cx="9181542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4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26" y="1600200"/>
            <a:ext cx="8857251" cy="415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722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86" y="1524000"/>
            <a:ext cx="8746512" cy="377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439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68" y="341971"/>
            <a:ext cx="8610600" cy="579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73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Python uses </a:t>
            </a:r>
            <a:r>
              <a:rPr lang="en-US" b="1" dirty="0">
                <a:solidFill>
                  <a:srgbClr val="0000FF"/>
                </a:solidFill>
              </a:rPr>
              <a:t>four spaces as default</a:t>
            </a:r>
            <a:r>
              <a:rPr lang="en-US" dirty="0"/>
              <a:t> indentation spaces. However, the </a:t>
            </a:r>
            <a:r>
              <a:rPr lang="en-US" b="1" dirty="0"/>
              <a:t>number of spaces can be anything</a:t>
            </a:r>
            <a:r>
              <a:rPr lang="en-US" dirty="0"/>
              <a:t>; it is up to the user. But a</a:t>
            </a:r>
            <a:r>
              <a:rPr lang="en-US" dirty="0">
                <a:solidFill>
                  <a:srgbClr val="0000FF"/>
                </a:solidFill>
              </a:rPr>
              <a:t> </a:t>
            </a:r>
            <a:r>
              <a:rPr lang="en-US" b="1" dirty="0">
                <a:solidFill>
                  <a:srgbClr val="0000FF"/>
                </a:solidFill>
              </a:rPr>
              <a:t>minimum of one space</a:t>
            </a:r>
            <a:r>
              <a:rPr lang="en-US" dirty="0"/>
              <a:t> is needed to indent a statement.</a:t>
            </a:r>
          </a:p>
          <a:p>
            <a:r>
              <a:rPr lang="en-US" dirty="0"/>
              <a:t>The </a:t>
            </a:r>
            <a:r>
              <a:rPr lang="en-US" b="1" dirty="0"/>
              <a:t>first line of python code cannot have an indentation</a:t>
            </a:r>
            <a:r>
              <a:rPr lang="en-US" dirty="0"/>
              <a:t>.</a:t>
            </a:r>
          </a:p>
          <a:p>
            <a:r>
              <a:rPr lang="en-US" dirty="0"/>
              <a:t>Indentation is </a:t>
            </a:r>
            <a:r>
              <a:rPr lang="en-US" b="1" dirty="0"/>
              <a:t>mandatory</a:t>
            </a:r>
            <a:r>
              <a:rPr lang="en-US" dirty="0"/>
              <a:t> in python to define the blocks of statements.</a:t>
            </a:r>
          </a:p>
          <a:p>
            <a:r>
              <a:rPr lang="en-US" dirty="0"/>
              <a:t>The number of spaces must be </a:t>
            </a:r>
            <a:r>
              <a:rPr lang="en-US" b="1" dirty="0"/>
              <a:t>uniform</a:t>
            </a:r>
            <a:r>
              <a:rPr lang="en-US" dirty="0"/>
              <a:t> in a block of code.</a:t>
            </a:r>
          </a:p>
          <a:p>
            <a:r>
              <a:rPr lang="en-US" dirty="0"/>
              <a:t>It is </a:t>
            </a:r>
            <a:r>
              <a:rPr lang="en-US" b="1" dirty="0">
                <a:solidFill>
                  <a:srgbClr val="0000FF"/>
                </a:solidFill>
              </a:rPr>
              <a:t>preferred to use whitespaces</a:t>
            </a:r>
            <a:r>
              <a:rPr lang="en-US" dirty="0"/>
              <a:t> </a:t>
            </a:r>
            <a:r>
              <a:rPr lang="en-US" b="1" dirty="0"/>
              <a:t>instead of tabs </a:t>
            </a:r>
            <a:r>
              <a:rPr lang="en-US" dirty="0"/>
              <a:t>to indent in python. Also, </a:t>
            </a:r>
            <a:r>
              <a:rPr lang="en-US" b="1" dirty="0"/>
              <a:t>either use whitespace or tabs </a:t>
            </a:r>
            <a:r>
              <a:rPr lang="en-US" dirty="0"/>
              <a:t>to indent; </a:t>
            </a:r>
            <a:r>
              <a:rPr lang="en-US" b="1" dirty="0">
                <a:solidFill>
                  <a:srgbClr val="C00000"/>
                </a:solidFill>
              </a:rPr>
              <a:t>intermixing of </a:t>
            </a:r>
            <a:r>
              <a:rPr lang="en-US" b="1" dirty="0">
                <a:solidFill>
                  <a:srgbClr val="FF00FF"/>
                </a:solidFill>
              </a:rPr>
              <a:t>tabs</a:t>
            </a:r>
            <a:r>
              <a:rPr lang="en-US" b="1" dirty="0">
                <a:solidFill>
                  <a:srgbClr val="C00000"/>
                </a:solidFill>
              </a:rPr>
              <a:t> and </a:t>
            </a:r>
            <a:r>
              <a:rPr lang="en-US" b="1" dirty="0">
                <a:solidFill>
                  <a:srgbClr val="FF00FF"/>
                </a:solidFill>
              </a:rPr>
              <a:t>whitespaces</a:t>
            </a:r>
            <a:r>
              <a:rPr lang="en-US" b="1" dirty="0">
                <a:solidFill>
                  <a:srgbClr val="C00000"/>
                </a:solidFill>
              </a:rPr>
              <a:t> in indentation can cause wrong indentation errors.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Python Indentation Rules</a:t>
            </a:r>
            <a:endParaRPr lang="en-IN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495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Indentation of code leads to </a:t>
            </a:r>
            <a:r>
              <a:rPr lang="en-US" b="1" dirty="0">
                <a:solidFill>
                  <a:srgbClr val="0000FF"/>
                </a:solidFill>
              </a:rPr>
              <a:t>better readability</a:t>
            </a:r>
            <a:r>
              <a:rPr lang="en-US" dirty="0"/>
              <a:t>, although the primary reason for indentation in python is </a:t>
            </a:r>
            <a:r>
              <a:rPr lang="en-US" b="1" dirty="0"/>
              <a:t>to identify block structures.</a:t>
            </a:r>
          </a:p>
          <a:p>
            <a:r>
              <a:rPr lang="en-US" b="1" dirty="0"/>
              <a:t>Missing { and } errors </a:t>
            </a:r>
            <a:r>
              <a:rPr lang="en-US" dirty="0"/>
              <a:t>that sometimes popup in C, C++ languages can </a:t>
            </a:r>
            <a:r>
              <a:rPr lang="en-US" b="1" dirty="0"/>
              <a:t>be avoided </a:t>
            </a:r>
            <a:r>
              <a:rPr lang="en-US" dirty="0"/>
              <a:t>in python; also the </a:t>
            </a:r>
            <a:r>
              <a:rPr lang="en-US" b="1" dirty="0"/>
              <a:t>number of lines of code is reduced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Benefits of Indentation in Python</a:t>
            </a:r>
            <a:endParaRPr lang="en-IN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012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If the number of lines in python code is huge</a:t>
            </a:r>
            <a:r>
              <a:rPr lang="en-US" dirty="0"/>
              <a:t>, sometimes this can </a:t>
            </a:r>
            <a:r>
              <a:rPr lang="en-US" b="1" dirty="0"/>
              <a:t>become tedious </a:t>
            </a:r>
            <a:r>
              <a:rPr lang="en-US" dirty="0"/>
              <a:t>if the indentation is corrupted by chance.</a:t>
            </a:r>
          </a:p>
          <a:p>
            <a:r>
              <a:rPr lang="en-US" b="1" dirty="0"/>
              <a:t>Using a good IDE/editor </a:t>
            </a:r>
            <a:r>
              <a:rPr lang="en-US" dirty="0"/>
              <a:t>to write Python codes </a:t>
            </a:r>
            <a:r>
              <a:rPr lang="en-US" b="1" dirty="0"/>
              <a:t>is a must </a:t>
            </a:r>
            <a:r>
              <a:rPr lang="en-US" dirty="0"/>
              <a:t>to help with managing the </a:t>
            </a:r>
            <a:r>
              <a:rPr lang="en-IN" dirty="0"/>
              <a:t>indentations.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Disadvantages of indentation in Python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790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6"/>
          <p:cNvSpPr txBox="1"/>
          <p:nvPr/>
        </p:nvSpPr>
        <p:spPr>
          <a:xfrm>
            <a:off x="1198088" y="3123368"/>
            <a:ext cx="6824298" cy="110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tr-TR" altLang="zh-CN" sz="6600" b="1" spc="-300" dirty="0">
                <a:solidFill>
                  <a:srgbClr val="08A1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华文中宋" panose="02010600040101010101" pitchFamily="2" charset="-122"/>
              </a:rPr>
              <a:t>THANK YOU !</a:t>
            </a:r>
            <a:endParaRPr lang="zh-CN" altLang="en-US" sz="6600" b="1" spc="-300" dirty="0">
              <a:solidFill>
                <a:srgbClr val="923C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8818</TotalTime>
  <Words>437</Words>
  <Application>Microsoft Office PowerPoint</Application>
  <PresentationFormat>On-screen Show (4:3)</PresentationFormat>
  <Paragraphs>41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LINES </vt:lpstr>
      <vt:lpstr>PowerPoint Presentation</vt:lpstr>
      <vt:lpstr>PowerPoint Presentation</vt:lpstr>
      <vt:lpstr>PowerPoint Presentation</vt:lpstr>
      <vt:lpstr>Indentation</vt:lpstr>
      <vt:lpstr>PowerPoint Presentation</vt:lpstr>
      <vt:lpstr>IndentationError Examples</vt:lpstr>
      <vt:lpstr>PowerPoint Presentation</vt:lpstr>
      <vt:lpstr>PowerPoint Presentation</vt:lpstr>
      <vt:lpstr>PowerPoint Presentation</vt:lpstr>
      <vt:lpstr>Python Indentation Rules</vt:lpstr>
      <vt:lpstr>Benefits of Indentation in Python</vt:lpstr>
      <vt:lpstr>Disadvantages of indentation in Python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panduraju pagidimalla</cp:lastModifiedBy>
  <cp:revision>553</cp:revision>
  <dcterms:created xsi:type="dcterms:W3CDTF">2022-12-01T06:56:39Z</dcterms:created>
  <dcterms:modified xsi:type="dcterms:W3CDTF">2024-10-18T07:26:37Z</dcterms:modified>
</cp:coreProperties>
</file>