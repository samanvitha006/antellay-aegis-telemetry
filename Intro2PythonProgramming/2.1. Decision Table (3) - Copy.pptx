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79" r:id="rId2"/>
    <p:sldId id="527" r:id="rId3"/>
    <p:sldId id="529" r:id="rId4"/>
    <p:sldId id="528" r:id="rId5"/>
    <p:sldId id="532" r:id="rId6"/>
    <p:sldId id="538" r:id="rId7"/>
    <p:sldId id="533" r:id="rId8"/>
    <p:sldId id="534" r:id="rId9"/>
    <p:sldId id="535" r:id="rId10"/>
    <p:sldId id="536" r:id="rId11"/>
    <p:sldId id="537" r:id="rId12"/>
    <p:sldId id="539" r:id="rId13"/>
    <p:sldId id="530" r:id="rId14"/>
    <p:sldId id="531" r:id="rId15"/>
    <p:sldId id="280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00FF"/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5" d="100"/>
          <a:sy n="55" d="100"/>
        </p:scale>
        <p:origin x="-2892" y="-10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E66BF5-F676-4E17-AB86-E138237E1E87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F2C62E-8EEF-49B5-A843-EDF193BC65C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985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9AD698A-D66C-4FA1-BBD8-F72AE9E6E75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</a:rPr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563126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9AD698A-D66C-4FA1-BBD8-F72AE9E6E75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</a:rPr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15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914702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9AD40-3D31-41B8-BC7C-4ED9FE9DE8B7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E67C3-D9F0-49BE-B5AD-14B2B6BF85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9AD40-3D31-41B8-BC7C-4ED9FE9DE8B7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E67C3-D9F0-49BE-B5AD-14B2B6BF85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9AD40-3D31-41B8-BC7C-4ED9FE9DE8B7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E67C3-D9F0-49BE-B5AD-14B2B6BF85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9AD40-3D31-41B8-BC7C-4ED9FE9DE8B7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E67C3-D9F0-49BE-B5AD-14B2B6BF85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9AD40-3D31-41B8-BC7C-4ED9FE9DE8B7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E67C3-D9F0-49BE-B5AD-14B2B6BF85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9AD40-3D31-41B8-BC7C-4ED9FE9DE8B7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E67C3-D9F0-49BE-B5AD-14B2B6BF85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457200" y="1371600"/>
            <a:ext cx="8305800" cy="4343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9AD40-3D31-41B8-BC7C-4ED9FE9DE8B7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E67C3-D9F0-49BE-B5AD-14B2B6BF85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685800" y="1600200"/>
            <a:ext cx="7924800" cy="381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9AD40-3D31-41B8-BC7C-4ED9FE9DE8B7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E67C3-D9F0-49BE-B5AD-14B2B6BF85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9AD40-3D31-41B8-BC7C-4ED9FE9DE8B7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E67C3-D9F0-49BE-B5AD-14B2B6BF85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9AD40-3D31-41B8-BC7C-4ED9FE9DE8B7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E67C3-D9F0-49BE-B5AD-14B2B6BF85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Box 6"/>
          <p:cNvSpPr txBox="1"/>
          <p:nvPr userDrawn="1"/>
        </p:nvSpPr>
        <p:spPr>
          <a:xfrm rot="19858487">
            <a:off x="-298088" y="1009160"/>
            <a:ext cx="25737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aseline="0" dirty="0" err="1">
                <a:solidFill>
                  <a:srgbClr val="BEBEBE"/>
                </a:solidFill>
              </a:rPr>
              <a:t>Mr.Panduraju</a:t>
            </a:r>
            <a:r>
              <a:rPr lang="en-US" baseline="0" dirty="0">
                <a:solidFill>
                  <a:srgbClr val="BEBEBE"/>
                </a:solidFill>
              </a:rPr>
              <a:t> Pagidimalla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9AD40-3D31-41B8-BC7C-4ED9FE9DE8B7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E67C3-D9F0-49BE-B5AD-14B2B6BF85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Box 6"/>
          <p:cNvSpPr txBox="1"/>
          <p:nvPr userDrawn="1"/>
        </p:nvSpPr>
        <p:spPr>
          <a:xfrm rot="19858487">
            <a:off x="-298088" y="1009160"/>
            <a:ext cx="25737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aseline="0" dirty="0" err="1">
                <a:solidFill>
                  <a:srgbClr val="BEBEBE"/>
                </a:solidFill>
              </a:rPr>
              <a:t>Mr.Panduraju</a:t>
            </a:r>
            <a:r>
              <a:rPr lang="en-US" baseline="0" dirty="0">
                <a:solidFill>
                  <a:srgbClr val="BEBEBE"/>
                </a:solidFill>
              </a:rPr>
              <a:t> Pagidimalla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59AD40-3D31-41B8-BC7C-4ED9FE9DE8B7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4E67C3-D9F0-49BE-B5AD-14B2B6BF85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Line 6"/>
          <p:cNvSpPr>
            <a:spLocks noChangeShapeType="1"/>
          </p:cNvSpPr>
          <p:nvPr userDrawn="1"/>
        </p:nvSpPr>
        <p:spPr bwMode="auto">
          <a:xfrm>
            <a:off x="228600" y="533400"/>
            <a:ext cx="8610600" cy="0"/>
          </a:xfrm>
          <a:prstGeom prst="line">
            <a:avLst/>
          </a:prstGeom>
          <a:noFill/>
          <a:ln w="76200">
            <a:solidFill>
              <a:schemeClr val="folHlink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8" name="Line 6"/>
          <p:cNvSpPr>
            <a:spLocks noChangeShapeType="1"/>
          </p:cNvSpPr>
          <p:nvPr userDrawn="1"/>
        </p:nvSpPr>
        <p:spPr bwMode="auto">
          <a:xfrm>
            <a:off x="228600" y="990600"/>
            <a:ext cx="8610600" cy="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Line 6"/>
          <p:cNvSpPr>
            <a:spLocks noChangeShapeType="1"/>
          </p:cNvSpPr>
          <p:nvPr userDrawn="1"/>
        </p:nvSpPr>
        <p:spPr bwMode="auto">
          <a:xfrm>
            <a:off x="304800" y="6096000"/>
            <a:ext cx="8610600" cy="0"/>
          </a:xfrm>
          <a:prstGeom prst="line">
            <a:avLst/>
          </a:prstGeom>
          <a:noFill/>
          <a:ln w="76200">
            <a:solidFill>
              <a:schemeClr val="folHlink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5" r:id="rId6"/>
    <p:sldLayoutId id="2147483662" r:id="rId7"/>
    <p:sldLayoutId id="2147483656" r:id="rId8"/>
    <p:sldLayoutId id="2147483657" r:id="rId9"/>
    <p:sldLayoutId id="2147483658" r:id="rId10"/>
    <p:sldLayoutId id="2147483659" r:id="rId11"/>
    <p:sldLayoutId id="2147483661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599030" y="1981200"/>
            <a:ext cx="4974888" cy="630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3500" b="1" dirty="0" err="1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Mr.Panduraju</a:t>
            </a:r>
            <a:r>
              <a:rPr lang="en-US" altLang="zh-CN" sz="35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 Pagidimalla</a:t>
            </a:r>
          </a:p>
        </p:txBody>
      </p:sp>
      <p:sp>
        <p:nvSpPr>
          <p:cNvPr id="8" name="文本框 6"/>
          <p:cNvSpPr txBox="1"/>
          <p:nvPr/>
        </p:nvSpPr>
        <p:spPr>
          <a:xfrm>
            <a:off x="914400" y="457200"/>
            <a:ext cx="7772400" cy="954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tx1">
                    <a:lumMod val="85000"/>
                    <a:lumOff val="15000"/>
                  </a:schemeClr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spc="-3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itchFamily="34" charset="0"/>
                <a:ea typeface="华文中宋" panose="02010600040101010101" pitchFamily="2" charset="-122"/>
              </a:rPr>
              <a:t>PROBLEM SOLVING AND PROGRAMMING USING PYTHON</a:t>
            </a:r>
            <a:endParaRPr lang="zh-CN" altLang="en-US" sz="2800" b="1" spc="-3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itchFamily="34" charset="0"/>
              <a:ea typeface="华文中宋" panose="02010600040101010101" pitchFamily="2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514600" y="2590800"/>
            <a:ext cx="32807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Assistant Professor, Dept of AIML</a:t>
            </a:r>
          </a:p>
        </p:txBody>
      </p:sp>
    </p:spTree>
    <p:custDataLst>
      <p:tags r:id="rId1"/>
    </p:custData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Line 2"/>
          <p:cNvSpPr>
            <a:spLocks noChangeShapeType="1"/>
          </p:cNvSpPr>
          <p:nvPr/>
        </p:nvSpPr>
        <p:spPr bwMode="auto">
          <a:xfrm>
            <a:off x="438150" y="2667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6389" name="Line 3"/>
          <p:cNvSpPr>
            <a:spLocks noChangeShapeType="1"/>
          </p:cNvSpPr>
          <p:nvPr/>
        </p:nvSpPr>
        <p:spPr bwMode="auto">
          <a:xfrm>
            <a:off x="439738" y="32766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2151126" y="2753380"/>
            <a:ext cx="47274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00FF"/>
                </a:solidFill>
              </a:rPr>
              <a:t>Techniques of Problem Solving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Line 2"/>
          <p:cNvSpPr>
            <a:spLocks noChangeShapeType="1"/>
          </p:cNvSpPr>
          <p:nvPr/>
        </p:nvSpPr>
        <p:spPr bwMode="auto">
          <a:xfrm>
            <a:off x="438150" y="2667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6389" name="Line 3"/>
          <p:cNvSpPr>
            <a:spLocks noChangeShapeType="1"/>
          </p:cNvSpPr>
          <p:nvPr/>
        </p:nvSpPr>
        <p:spPr bwMode="auto">
          <a:xfrm>
            <a:off x="439738" y="32766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2819400" y="2710190"/>
            <a:ext cx="23183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00FF"/>
                </a:solidFill>
              </a:rPr>
              <a:t>Decision Table</a:t>
            </a:r>
          </a:p>
        </p:txBody>
      </p:sp>
    </p:spTree>
    <p:extLst>
      <p:ext uri="{BB962C8B-B14F-4D97-AF65-F5344CB8AC3E}">
        <p14:creationId xmlns:p14="http://schemas.microsoft.com/office/powerpoint/2010/main" val="359514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IN" dirty="0"/>
              <a:t>A </a:t>
            </a:r>
            <a:r>
              <a:rPr lang="en-IN" b="1" dirty="0"/>
              <a:t>decision table </a:t>
            </a:r>
            <a:r>
              <a:rPr lang="en-IN" dirty="0"/>
              <a:t>is a table that indicates </a:t>
            </a:r>
            <a:r>
              <a:rPr lang="en-IN" b="1" dirty="0">
                <a:solidFill>
                  <a:srgbClr val="0000FF"/>
                </a:solidFill>
              </a:rPr>
              <a:t>conditions</a:t>
            </a:r>
            <a:r>
              <a:rPr lang="en-IN" dirty="0">
                <a:solidFill>
                  <a:srgbClr val="0000FF"/>
                </a:solidFill>
              </a:rPr>
              <a:t> </a:t>
            </a:r>
            <a:r>
              <a:rPr lang="en-IN" dirty="0"/>
              <a:t>and </a:t>
            </a:r>
            <a:r>
              <a:rPr lang="en-IN" b="1" dirty="0">
                <a:solidFill>
                  <a:srgbClr val="0000FF"/>
                </a:solidFill>
              </a:rPr>
              <a:t>actions</a:t>
            </a:r>
            <a:r>
              <a:rPr lang="en-IN" dirty="0">
                <a:solidFill>
                  <a:srgbClr val="0000FF"/>
                </a:solidFill>
              </a:rPr>
              <a:t> </a:t>
            </a:r>
            <a:r>
              <a:rPr lang="en-IN" dirty="0"/>
              <a:t>in a simplified and orderly manner.</a:t>
            </a:r>
          </a:p>
          <a:p>
            <a:r>
              <a:rPr lang="en-IN" dirty="0"/>
              <a:t>Decision tables are used </a:t>
            </a:r>
            <a:r>
              <a:rPr lang="en-IN" b="1" dirty="0"/>
              <a:t>to model complicated logic. 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i="1" dirty="0">
                <a:solidFill>
                  <a:srgbClr val="FF0000"/>
                </a:solidFill>
              </a:rPr>
              <a:t>Decision table</a:t>
            </a:r>
            <a:endParaRPr lang="en-IN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25161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IN" dirty="0"/>
              <a:t>A decision table can be described as </a:t>
            </a:r>
            <a:r>
              <a:rPr lang="en-IN" b="1" dirty="0">
                <a:solidFill>
                  <a:srgbClr val="0000FF"/>
                </a:solidFill>
              </a:rPr>
              <a:t>cause-effect</a:t>
            </a:r>
            <a:r>
              <a:rPr lang="en-IN" dirty="0"/>
              <a:t> </a:t>
            </a:r>
            <a:r>
              <a:rPr lang="en-IN" b="1" dirty="0">
                <a:solidFill>
                  <a:srgbClr val="0000FF"/>
                </a:solidFill>
              </a:rPr>
              <a:t>table</a:t>
            </a:r>
            <a:r>
              <a:rPr lang="en-IN" dirty="0"/>
              <a:t> and is the best way to deal with combination inputs with their associated outputs.</a:t>
            </a:r>
          </a:p>
          <a:p>
            <a:r>
              <a:rPr lang="en-IN" dirty="0"/>
              <a:t>In a decision table, the </a:t>
            </a:r>
            <a:r>
              <a:rPr lang="en-IN" b="1" dirty="0"/>
              <a:t>logic is well divided into </a:t>
            </a:r>
            <a:r>
              <a:rPr lang="en-IN" b="1" dirty="0">
                <a:solidFill>
                  <a:srgbClr val="0000FF"/>
                </a:solidFill>
              </a:rPr>
              <a:t>conditions</a:t>
            </a:r>
            <a:r>
              <a:rPr lang="en-IN" dirty="0"/>
              <a:t>, </a:t>
            </a:r>
            <a:r>
              <a:rPr lang="en-IN" b="1" dirty="0">
                <a:solidFill>
                  <a:srgbClr val="0000FF"/>
                </a:solidFill>
              </a:rPr>
              <a:t>actions(decisions</a:t>
            </a:r>
            <a:r>
              <a:rPr lang="en-IN" dirty="0">
                <a:solidFill>
                  <a:srgbClr val="0000FF"/>
                </a:solidFill>
              </a:rPr>
              <a:t>)</a:t>
            </a:r>
            <a:r>
              <a:rPr lang="en-IN" dirty="0"/>
              <a:t> and </a:t>
            </a:r>
            <a:r>
              <a:rPr lang="en-IN" b="1" dirty="0">
                <a:solidFill>
                  <a:srgbClr val="0000FF"/>
                </a:solidFill>
              </a:rPr>
              <a:t>rules</a:t>
            </a:r>
            <a:r>
              <a:rPr lang="en-IN" dirty="0">
                <a:solidFill>
                  <a:srgbClr val="0000FF"/>
                </a:solidFill>
              </a:rPr>
              <a:t> </a:t>
            </a:r>
            <a:r>
              <a:rPr lang="en-IN" dirty="0"/>
              <a:t>for representing the various components that form the logical model.</a:t>
            </a:r>
          </a:p>
        </p:txBody>
      </p:sp>
    </p:spTree>
    <p:extLst>
      <p:ext uri="{BB962C8B-B14F-4D97-AF65-F5344CB8AC3E}">
        <p14:creationId xmlns:p14="http://schemas.microsoft.com/office/powerpoint/2010/main" val="10847185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Standard format</a:t>
            </a:r>
            <a:endParaRPr lang="en-IN" dirty="0"/>
          </a:p>
        </p:txBody>
      </p:sp>
      <p:pic>
        <p:nvPicPr>
          <p:cNvPr id="2050" name="Picture 2" descr="Decision Table Templat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1600200"/>
            <a:ext cx="5181600" cy="30303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302610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A login screen with </a:t>
            </a:r>
            <a:r>
              <a:rPr lang="en-US" b="1" dirty="0"/>
              <a:t>E-mail</a:t>
            </a:r>
            <a:r>
              <a:rPr lang="en-US" dirty="0"/>
              <a:t> and </a:t>
            </a:r>
            <a:r>
              <a:rPr lang="en-US" b="1" dirty="0"/>
              <a:t>Password</a:t>
            </a:r>
            <a:r>
              <a:rPr lang="en-US" dirty="0"/>
              <a:t> Input boxes. </a:t>
            </a:r>
          </a:p>
          <a:p>
            <a:r>
              <a:rPr lang="en-US" b="1" dirty="0">
                <a:solidFill>
                  <a:srgbClr val="0000FF"/>
                </a:solidFill>
              </a:rPr>
              <a:t>Actions: </a:t>
            </a:r>
            <a:r>
              <a:rPr lang="en-US" dirty="0"/>
              <a:t>The user will be </a:t>
            </a:r>
            <a:r>
              <a:rPr lang="en-US" b="1" dirty="0">
                <a:solidFill>
                  <a:srgbClr val="00B0F0"/>
                </a:solidFill>
              </a:rPr>
              <a:t>routed to the homepage</a:t>
            </a:r>
            <a:r>
              <a:rPr lang="en-US" dirty="0"/>
              <a:t> if they give the right username and password. An </a:t>
            </a:r>
            <a:r>
              <a:rPr lang="en-US" b="1" dirty="0">
                <a:solidFill>
                  <a:srgbClr val="00B0F0"/>
                </a:solidFill>
              </a:rPr>
              <a:t>error warning </a:t>
            </a:r>
            <a:r>
              <a:rPr lang="en-US" dirty="0"/>
              <a:t>will appear if any of the inputs are incorrect. </a:t>
            </a:r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Example: </a:t>
            </a:r>
            <a:r>
              <a:rPr lang="en-US" sz="2400" b="1" dirty="0">
                <a:solidFill>
                  <a:srgbClr val="C00000"/>
                </a:solidFill>
              </a:rPr>
              <a:t>How to Create a Login Screen Decision Base Table </a:t>
            </a:r>
            <a:endParaRPr lang="en-IN" sz="24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88666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457200" y="1371600"/>
            <a:ext cx="8305800" cy="4114800"/>
          </a:xfrm>
        </p:spPr>
        <p:txBody>
          <a:bodyPr>
            <a:noAutofit/>
          </a:bodyPr>
          <a:lstStyle/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IN" sz="2000" dirty="0"/>
          </a:p>
          <a:p>
            <a:r>
              <a:rPr lang="en-US" sz="2000" dirty="0"/>
              <a:t>T - Make sure your login and password are correct. </a:t>
            </a:r>
          </a:p>
          <a:p>
            <a:r>
              <a:rPr lang="en-US" sz="2000" dirty="0"/>
              <a:t>F - Incorrect login or password </a:t>
            </a:r>
          </a:p>
          <a:p>
            <a:r>
              <a:rPr lang="en-US" sz="2000" dirty="0"/>
              <a:t>E - An error message appears. </a:t>
            </a:r>
          </a:p>
          <a:p>
            <a:r>
              <a:rPr lang="en-US" sz="2000" dirty="0"/>
              <a:t>H - The home screen appears. </a:t>
            </a:r>
          </a:p>
          <a:p>
            <a:r>
              <a:rPr lang="en-US" sz="2000" dirty="0"/>
              <a:t>Note: In a decision table, </a:t>
            </a:r>
            <a:r>
              <a:rPr lang="en-US" sz="2000" b="1" dirty="0"/>
              <a:t>conditions </a:t>
            </a:r>
            <a:r>
              <a:rPr lang="en-US" sz="2000" dirty="0"/>
              <a:t>are usually expressed as true (T) or false (F)</a:t>
            </a:r>
          </a:p>
          <a:p>
            <a:endParaRPr lang="en-IN" sz="20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Example: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143000"/>
            <a:ext cx="7440063" cy="2276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94473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b="1" dirty="0"/>
              <a:t>Interpretation </a:t>
            </a:r>
            <a:endParaRPr lang="en-IN" dirty="0"/>
          </a:p>
          <a:p>
            <a:r>
              <a:rPr lang="en-US" b="1" dirty="0"/>
              <a:t>Case 1 </a:t>
            </a:r>
            <a:r>
              <a:rPr lang="en-US" dirty="0"/>
              <a:t>− Both the username and password were incorrect. An error message is displayed to the user. </a:t>
            </a:r>
          </a:p>
          <a:p>
            <a:r>
              <a:rPr lang="en-US" b="1" dirty="0"/>
              <a:t>Case 2 </a:t>
            </a:r>
            <a:r>
              <a:rPr lang="en-US" dirty="0"/>
              <a:t>− The username and password were both right, however, the password was incorrect. An error message is displayed to the user. </a:t>
            </a:r>
          </a:p>
          <a:p>
            <a:r>
              <a:rPr lang="en-US" b="1" dirty="0"/>
              <a:t>Case 3 </a:t>
            </a:r>
            <a:r>
              <a:rPr lang="en-US" dirty="0"/>
              <a:t>− Although the username was incorrect, the password was accurate. An error message is displayed to the user. </a:t>
            </a:r>
          </a:p>
          <a:p>
            <a:r>
              <a:rPr lang="en-US" b="1" dirty="0"/>
              <a:t>Case 4 </a:t>
            </a:r>
            <a:r>
              <a:rPr lang="en-US" dirty="0"/>
              <a:t>− The user's username and password were both accurate, and the user went to the homepage.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49507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A customer requests a cash withdrawal. One of the business rules for the ATM is that the ATM machine pays out the amount </a:t>
            </a:r>
            <a:r>
              <a:rPr lang="en-US" b="1" dirty="0"/>
              <a:t>if the customer has sufficient funds</a:t>
            </a:r>
            <a:r>
              <a:rPr lang="en-US" dirty="0"/>
              <a:t> in their account </a:t>
            </a:r>
            <a:r>
              <a:rPr lang="en-US" b="1" dirty="0"/>
              <a:t>or</a:t>
            </a:r>
            <a:r>
              <a:rPr lang="en-US" dirty="0"/>
              <a:t> if the customer has the </a:t>
            </a:r>
            <a:r>
              <a:rPr lang="en-US" b="1" dirty="0"/>
              <a:t>credit granted</a:t>
            </a:r>
            <a:r>
              <a:rPr lang="en-US" dirty="0"/>
              <a:t>. Draw decision table</a:t>
            </a:r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Exercise</a:t>
            </a:r>
            <a:endParaRPr lang="en-IN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51884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26" name="Picture 2" descr="A guide to Using Decision Tables - Reqtes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524000"/>
            <a:ext cx="7550413" cy="365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20038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Example 3</a:t>
            </a:r>
            <a:endParaRPr lang="en-IN" b="1" dirty="0">
              <a:solidFill>
                <a:srgbClr val="FF0000"/>
              </a:solidFill>
            </a:endParaRPr>
          </a:p>
        </p:txBody>
      </p:sp>
      <p:pic>
        <p:nvPicPr>
          <p:cNvPr id="3074" name="Picture 2" descr="Decision Table Exampl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1828800"/>
            <a:ext cx="5562600" cy="2238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67173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dirty="0"/>
              <a:t>Decision rules are </a:t>
            </a:r>
            <a:r>
              <a:rPr lang="en-IN" b="1" dirty="0"/>
              <a:t>clearly structured</a:t>
            </a:r>
            <a:r>
              <a:rPr lang="en-IN" dirty="0"/>
              <a:t>.</a:t>
            </a:r>
          </a:p>
          <a:p>
            <a:r>
              <a:rPr lang="en-IN" b="1" dirty="0"/>
              <a:t>Easy to use</a:t>
            </a:r>
            <a:r>
              <a:rPr lang="en-IN" dirty="0"/>
              <a:t>.</a:t>
            </a:r>
          </a:p>
          <a:p>
            <a:r>
              <a:rPr lang="en-IN" b="1" dirty="0"/>
              <a:t>Easier to draw or modify </a:t>
            </a:r>
            <a:r>
              <a:rPr lang="en-IN" dirty="0"/>
              <a:t>in comparison to flowcharts.</a:t>
            </a:r>
          </a:p>
          <a:p>
            <a:r>
              <a:rPr lang="en-IN" dirty="0"/>
              <a:t>They provide more </a:t>
            </a:r>
            <a:r>
              <a:rPr lang="en-IN" b="1" dirty="0"/>
              <a:t>compact documentation</a:t>
            </a:r>
            <a:r>
              <a:rPr lang="en-IN" dirty="0"/>
              <a:t>.</a:t>
            </a:r>
          </a:p>
          <a:p>
            <a:r>
              <a:rPr lang="en-IN" dirty="0"/>
              <a:t>Documentation is easily prepared, changed or updated.</a:t>
            </a:r>
          </a:p>
          <a:p>
            <a:r>
              <a:rPr lang="en-IN" dirty="0"/>
              <a:t>Decision tables can </a:t>
            </a:r>
            <a:r>
              <a:rPr lang="en-IN" b="1" dirty="0"/>
              <a:t>be changed easily </a:t>
            </a:r>
            <a:r>
              <a:rPr lang="en-IN" dirty="0"/>
              <a:t>according to the situation.</a:t>
            </a:r>
          </a:p>
          <a:p>
            <a:r>
              <a:rPr lang="en-IN" dirty="0"/>
              <a:t>Decision tables </a:t>
            </a:r>
            <a:r>
              <a:rPr lang="en-IN" b="1" dirty="0"/>
              <a:t>summarize all the outcomes </a:t>
            </a:r>
            <a:r>
              <a:rPr lang="en-IN" dirty="0"/>
              <a:t>of a situation and suggest suitable actions.</a:t>
            </a:r>
          </a:p>
          <a:p>
            <a:r>
              <a:rPr lang="en-IN" dirty="0"/>
              <a:t>Decision tables have a </a:t>
            </a:r>
            <a:r>
              <a:rPr lang="en-IN" b="1" dirty="0"/>
              <a:t>standard format</a:t>
            </a:r>
            <a:r>
              <a:rPr lang="en-IN" dirty="0"/>
              <a:t>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Advantages Of Decision Table:</a:t>
            </a:r>
          </a:p>
        </p:txBody>
      </p:sp>
    </p:spTree>
    <p:extLst>
      <p:ext uri="{BB962C8B-B14F-4D97-AF65-F5344CB8AC3E}">
        <p14:creationId xmlns:p14="http://schemas.microsoft.com/office/powerpoint/2010/main" val="35596666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IN" dirty="0"/>
              <a:t>Decision tables </a:t>
            </a:r>
            <a:r>
              <a:rPr lang="en-IN" b="1" dirty="0"/>
              <a:t>do not show the flow of logic </a:t>
            </a:r>
            <a:r>
              <a:rPr lang="en-IN" dirty="0"/>
              <a:t>for the solution to a given problem.</a:t>
            </a:r>
          </a:p>
          <a:p>
            <a:r>
              <a:rPr lang="en-IN" dirty="0"/>
              <a:t>Decision table </a:t>
            </a:r>
            <a:r>
              <a:rPr lang="en-IN" b="1" dirty="0"/>
              <a:t>cannot list all alternatives</a:t>
            </a:r>
            <a:r>
              <a:rPr lang="en-IN" dirty="0"/>
              <a:t>.</a:t>
            </a:r>
          </a:p>
          <a:p>
            <a:r>
              <a:rPr lang="en-IN" b="1" dirty="0"/>
              <a:t>Not easy to translate </a:t>
            </a:r>
            <a:r>
              <a:rPr lang="en-IN" dirty="0"/>
              <a:t>it.</a:t>
            </a:r>
          </a:p>
          <a:p>
            <a:r>
              <a:rPr lang="en-IN" dirty="0"/>
              <a:t>Impose an additional burdens.</a:t>
            </a:r>
          </a:p>
          <a:p>
            <a:r>
              <a:rPr lang="en-IN" dirty="0"/>
              <a:t>Decision tables </a:t>
            </a:r>
            <a:r>
              <a:rPr lang="en-IN" b="1" dirty="0"/>
              <a:t>only present a partial solution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Disadvantages Of Decision Tables:</a:t>
            </a:r>
          </a:p>
        </p:txBody>
      </p:sp>
    </p:spTree>
    <p:extLst>
      <p:ext uri="{BB962C8B-B14F-4D97-AF65-F5344CB8AC3E}">
        <p14:creationId xmlns:p14="http://schemas.microsoft.com/office/powerpoint/2010/main" val="6707159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框 6"/>
          <p:cNvSpPr txBox="1"/>
          <p:nvPr/>
        </p:nvSpPr>
        <p:spPr>
          <a:xfrm>
            <a:off x="1198088" y="3123368"/>
            <a:ext cx="6824298" cy="1107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tx1">
                    <a:lumMod val="85000"/>
                    <a:lumOff val="15000"/>
                  </a:schemeClr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ctr"/>
            <a:r>
              <a:rPr lang="tr-TR" altLang="zh-CN" sz="6600" b="1" spc="-300" dirty="0">
                <a:solidFill>
                  <a:srgbClr val="08A1C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华文中宋" panose="02010600040101010101" pitchFamily="2" charset="-122"/>
              </a:rPr>
              <a:t>THANK YOU !</a:t>
            </a:r>
            <a:endParaRPr lang="zh-CN" altLang="en-US" sz="6600" b="1" spc="-300" dirty="0">
              <a:solidFill>
                <a:srgbClr val="923C9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华文中宋" panose="02010600040101010101" pitchFamily="2" charset="-122"/>
            </a:endParaRPr>
          </a:p>
        </p:txBody>
      </p:sp>
    </p:spTree>
    <p:custDataLst>
      <p:tags r:id="rId1"/>
    </p:custData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SUBTYPE" val="pureTxt"/>
  <p:tag name="KSO_WM_TEMPLATE_TOPIC_DEFAULT" val="1"/>
  <p:tag name="KSO_WM_TEMPLATE_JOB_ID" val="2"/>
  <p:tag name="KSO_WM_TEMPLATE_SCENE_ID" val="1"/>
  <p:tag name="KSO_WM_TEMPLATE_OUTLINE_ID" val="15"/>
  <p:tag name="KSO_WM_TEMPLATE_TOPIC_ID" val="2869567"/>
  <p:tag name="KSO_WM_SLIDE_SIZE" val="828*343"/>
  <p:tag name="KSO_WM_SLIDE_POSITION" val="66*144"/>
  <p:tag name="KSO_WM_BEAUTIFY_FLAG" val="#wm#"/>
  <p:tag name="KSO_WM_SLIDE_TYPE" val="title"/>
  <p:tag name="KSO_WM_SLIDE_LAYOUT_CNT" val="1_1"/>
  <p:tag name="KSO_WM_SLIDE_LAYOUT" val="a_b"/>
  <p:tag name="KSO_WM_SLIDE_ITEM_CNT" val="2"/>
  <p:tag name="KSO_WM_SLIDE_INDEX" val="1"/>
  <p:tag name="KSO_WM_SLIDE_ID" val="custom20184553_1"/>
  <p:tag name="KSO_WM_TAG_VERSION" val="1.0"/>
  <p:tag name="KSO_WM_TEMPLATE_INDEX" val="20184553"/>
  <p:tag name="KSO_WM_TEMPLATE_CATEGORY" val="custom"/>
  <p:tag name="KSO_WM_TEMPLATE_THUMBS_INDEX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SUBTYPE" val="pureTxt"/>
  <p:tag name="KSO_WM_TEMPLATE_TOPIC_DEFAULT" val="1"/>
  <p:tag name="KSO_WM_TEMPLATE_JOB_ID" val="2"/>
  <p:tag name="KSO_WM_TEMPLATE_SCENE_ID" val="1"/>
  <p:tag name="KSO_WM_TEMPLATE_OUTLINE_ID" val="15"/>
  <p:tag name="KSO_WM_TEMPLATE_TOPIC_ID" val="2869567"/>
  <p:tag name="KSO_WM_SLIDE_SIZE" val="828*343"/>
  <p:tag name="KSO_WM_SLIDE_POSITION" val="66*144"/>
  <p:tag name="KSO_WM_BEAUTIFY_FLAG" val="#wm#"/>
  <p:tag name="KSO_WM_SLIDE_TYPE" val="title"/>
  <p:tag name="KSO_WM_SLIDE_LAYOUT_CNT" val="1_1"/>
  <p:tag name="KSO_WM_SLIDE_LAYOUT" val="a_b"/>
  <p:tag name="KSO_WM_SLIDE_ITEM_CNT" val="2"/>
  <p:tag name="KSO_WM_SLIDE_INDEX" val="1"/>
  <p:tag name="KSO_WM_SLIDE_ID" val="custom20184553_1"/>
  <p:tag name="KSO_WM_TAG_VERSION" val="1.0"/>
  <p:tag name="KSO_WM_TEMPLATE_INDEX" val="20184553"/>
  <p:tag name="KSO_WM_TEMPLATE_CATEGORY" val="custom"/>
  <p:tag name="KSO_WM_TEMPLATE_THUMBS_INDEX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8591</TotalTime>
  <Words>477</Words>
  <Application>Microsoft Office PowerPoint</Application>
  <PresentationFormat>On-screen Show (4:3)</PresentationFormat>
  <Paragraphs>53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Decision table</vt:lpstr>
      <vt:lpstr>PowerPoint Presentation</vt:lpstr>
      <vt:lpstr>Standard format</vt:lpstr>
      <vt:lpstr>Example: How to Create a Login Screen Decision Base Table </vt:lpstr>
      <vt:lpstr>Example:</vt:lpstr>
      <vt:lpstr>PowerPoint Presentation</vt:lpstr>
      <vt:lpstr>Exercise</vt:lpstr>
      <vt:lpstr>PowerPoint Presentation</vt:lpstr>
      <vt:lpstr>Example 3</vt:lpstr>
      <vt:lpstr>Advantages Of Decision Table:</vt:lpstr>
      <vt:lpstr>Disadvantages Of Decision Tables: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cp:lastModifiedBy>panduraju pagidimalla</cp:lastModifiedBy>
  <cp:revision>495</cp:revision>
  <dcterms:created xsi:type="dcterms:W3CDTF">2022-12-01T06:56:39Z</dcterms:created>
  <dcterms:modified xsi:type="dcterms:W3CDTF">2024-10-18T07:32:42Z</dcterms:modified>
</cp:coreProperties>
</file>