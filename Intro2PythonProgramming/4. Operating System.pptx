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9" r:id="rId2"/>
    <p:sldId id="527" r:id="rId3"/>
    <p:sldId id="529" r:id="rId4"/>
    <p:sldId id="531" r:id="rId5"/>
    <p:sldId id="540" r:id="rId6"/>
    <p:sldId id="532" r:id="rId7"/>
    <p:sldId id="533" r:id="rId8"/>
    <p:sldId id="534" r:id="rId9"/>
    <p:sldId id="535" r:id="rId10"/>
    <p:sldId id="530" r:id="rId11"/>
    <p:sldId id="536" r:id="rId12"/>
    <p:sldId id="537" r:id="rId13"/>
    <p:sldId id="538" r:id="rId14"/>
    <p:sldId id="539" r:id="rId15"/>
    <p:sldId id="28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892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66BF5-F676-4E17-AB86-E138237E1E8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2C62E-8EEF-49B5-A843-EDF193BC65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85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6312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147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57200" y="1371600"/>
            <a:ext cx="830580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85800" y="1600200"/>
            <a:ext cx="7924800" cy="381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 rot="19858487">
            <a:off x="-298088" y="1009160"/>
            <a:ext cx="257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0" dirty="0" err="1">
                <a:solidFill>
                  <a:srgbClr val="BEBEBE"/>
                </a:solidFill>
              </a:rPr>
              <a:t>Mr.Panduraju</a:t>
            </a:r>
            <a:r>
              <a:rPr lang="en-US" baseline="0" dirty="0">
                <a:solidFill>
                  <a:srgbClr val="BEBEBE"/>
                </a:solidFill>
              </a:rPr>
              <a:t> Pagidimalla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 rot="19858487">
            <a:off x="-298088" y="1009160"/>
            <a:ext cx="257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0" dirty="0" err="1">
                <a:solidFill>
                  <a:srgbClr val="BEBEBE"/>
                </a:solidFill>
              </a:rPr>
              <a:t>Mr.Panduraju</a:t>
            </a:r>
            <a:r>
              <a:rPr lang="en-US" baseline="0" dirty="0">
                <a:solidFill>
                  <a:srgbClr val="BEBEBE"/>
                </a:solidFill>
              </a:rPr>
              <a:t> Pagidimalla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228600" y="533400"/>
            <a:ext cx="8610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Line 6"/>
          <p:cNvSpPr>
            <a:spLocks noChangeShapeType="1"/>
          </p:cNvSpPr>
          <p:nvPr userDrawn="1"/>
        </p:nvSpPr>
        <p:spPr bwMode="auto">
          <a:xfrm>
            <a:off x="228600" y="990600"/>
            <a:ext cx="86106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Line 6"/>
          <p:cNvSpPr>
            <a:spLocks noChangeShapeType="1"/>
          </p:cNvSpPr>
          <p:nvPr userDrawn="1"/>
        </p:nvSpPr>
        <p:spPr bwMode="auto">
          <a:xfrm>
            <a:off x="304800" y="6096000"/>
            <a:ext cx="8610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62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99030" y="1981200"/>
            <a:ext cx="4974888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5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Mr.Panduraju</a:t>
            </a:r>
            <a:r>
              <a:rPr lang="en-US" altLang="zh-CN" sz="35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Pagidimalla</a:t>
            </a:r>
          </a:p>
        </p:txBody>
      </p:sp>
      <p:sp>
        <p:nvSpPr>
          <p:cNvPr id="8" name="文本框 6"/>
          <p:cNvSpPr txBox="1"/>
          <p:nvPr/>
        </p:nvSpPr>
        <p:spPr>
          <a:xfrm>
            <a:off x="914400" y="457200"/>
            <a:ext cx="7772400" cy="95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85000"/>
                    <a:lumOff val="1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  <a:ea typeface="华文中宋" panose="02010600040101010101" pitchFamily="2" charset="-122"/>
              </a:rPr>
              <a:t>PROBLEM SOLVING AND PROGRAMMING USING PYTHON</a:t>
            </a:r>
            <a:endParaRPr lang="zh-CN" altLang="en-US" sz="2800" b="1" spc="-3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itchFamily="34" charset="0"/>
              <a:ea typeface="华文中宋" panose="020106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4600" y="2590800"/>
            <a:ext cx="3280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Assistant Professor, Dept of AIML</a:t>
            </a: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815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66800" y="2753380"/>
            <a:ext cx="72585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Unit-I: Software requirements for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815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106323" y="2667000"/>
            <a:ext cx="28170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3379931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>
                <a:latin typeface="Arial" panose="020B0604020202020204" pitchFamily="34" charset="0"/>
              </a:rPr>
              <a:t>A </a:t>
            </a:r>
            <a:r>
              <a:rPr lang="en-US" altLang="en-US" b="1" dirty="0">
                <a:latin typeface="Arial" panose="020B0604020202020204" pitchFamily="34" charset="0"/>
              </a:rPr>
              <a:t>modern computer </a:t>
            </a:r>
            <a:r>
              <a:rPr lang="en-US" altLang="en-US" dirty="0">
                <a:latin typeface="Arial" panose="020B0604020202020204" pitchFamily="34" charset="0"/>
              </a:rPr>
              <a:t>consists of: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 One or more processors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 Main memory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 Disks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 Printers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 Various input/output devices.</a:t>
            </a:r>
          </a:p>
          <a:p>
            <a:pPr>
              <a:buClr>
                <a:schemeClr val="tx1"/>
              </a:buClr>
            </a:pPr>
            <a:r>
              <a:rPr lang="en-US" altLang="en-US" dirty="0">
                <a:latin typeface="Arial" panose="020B0604020202020204" pitchFamily="34" charset="0"/>
              </a:rPr>
              <a:t>Managing all these varied components requires a layer of software – the 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b="1" dirty="0">
                <a:latin typeface="Arial" panose="020B0604020202020204" pitchFamily="34" charset="0"/>
              </a:rPr>
              <a:t>Operating System (OS).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What is an Operating System (1)?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781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066800"/>
            <a:ext cx="7315200" cy="483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576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/>
              <a:t>An Operating System is a program that </a:t>
            </a:r>
            <a:r>
              <a:rPr lang="en-US" altLang="en-US" b="1" dirty="0">
                <a:solidFill>
                  <a:srgbClr val="0000FF"/>
                </a:solidFill>
              </a:rPr>
              <a:t>acts as an intermediary/interface </a:t>
            </a:r>
            <a:r>
              <a:rPr lang="en-US" altLang="en-US" dirty="0"/>
              <a:t>between a </a:t>
            </a:r>
            <a:r>
              <a:rPr lang="en-US" altLang="en-US" b="1" dirty="0"/>
              <a:t>user of a computer</a:t>
            </a:r>
            <a:r>
              <a:rPr lang="en-US" altLang="en-US" dirty="0"/>
              <a:t> and the </a:t>
            </a:r>
            <a:r>
              <a:rPr lang="en-US" altLang="en-US" b="1" dirty="0"/>
              <a:t>computer hardware</a:t>
            </a:r>
            <a:r>
              <a:rPr lang="en-US" altLang="en-US" dirty="0"/>
              <a:t>.</a:t>
            </a:r>
          </a:p>
          <a:p>
            <a:r>
              <a:rPr lang="en-US" altLang="en-US" b="1" dirty="0">
                <a:solidFill>
                  <a:srgbClr val="FF00FF"/>
                </a:solidFill>
              </a:rPr>
              <a:t>OS goals:</a:t>
            </a:r>
          </a:p>
          <a:p>
            <a:pPr lvl="1"/>
            <a:r>
              <a:rPr lang="en-US" altLang="en-US" dirty="0"/>
              <a:t>Control/execute user/application programs.</a:t>
            </a:r>
          </a:p>
          <a:p>
            <a:pPr lvl="1"/>
            <a:r>
              <a:rPr lang="en-US" altLang="en-US" dirty="0"/>
              <a:t>Make the computer system convenient to use.</a:t>
            </a:r>
          </a:p>
          <a:p>
            <a:pPr lvl="1"/>
            <a:r>
              <a:rPr lang="en-US" altLang="en-US" dirty="0"/>
              <a:t>Ease the solving of user problems.</a:t>
            </a:r>
          </a:p>
          <a:p>
            <a:pPr lvl="1"/>
            <a:r>
              <a:rPr lang="en-US" altLang="en-US" dirty="0"/>
              <a:t>Use the computer hardware in an efficient manner.</a:t>
            </a:r>
          </a:p>
          <a:p>
            <a:pPr>
              <a:buNone/>
            </a:pPr>
            <a:endParaRPr lang="en-US" altLang="en-US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What is an Operating System (2)?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500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Where does the OS fit in?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4" name="Picture 4" descr="01-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1519" y="1146969"/>
            <a:ext cx="7700962" cy="47926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5638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Facilities for program creation</a:t>
            </a:r>
          </a:p>
          <a:p>
            <a:pPr lvl="1"/>
            <a:r>
              <a:rPr lang="en-US" altLang="en-US" dirty="0"/>
              <a:t>editors, compilers, linkers, debuggers, etc.</a:t>
            </a:r>
          </a:p>
          <a:p>
            <a:r>
              <a:rPr lang="en-US" altLang="en-US" dirty="0"/>
              <a:t>Program execution</a:t>
            </a:r>
          </a:p>
          <a:p>
            <a:pPr lvl="1"/>
            <a:r>
              <a:rPr lang="en-US" altLang="en-US" dirty="0"/>
              <a:t>loading in memory, I/O and file initialization.</a:t>
            </a:r>
          </a:p>
          <a:p>
            <a:r>
              <a:rPr lang="en-US" altLang="en-US" dirty="0"/>
              <a:t>Access to I/O and files</a:t>
            </a:r>
          </a:p>
          <a:p>
            <a:pPr lvl="1"/>
            <a:r>
              <a:rPr lang="en-US" altLang="en-US" dirty="0"/>
              <a:t>deals with the specifics of I/O and file formats.</a:t>
            </a:r>
          </a:p>
          <a:p>
            <a:r>
              <a:rPr lang="en-US" altLang="en-US" dirty="0"/>
              <a:t>System access</a:t>
            </a:r>
          </a:p>
          <a:p>
            <a:pPr lvl="1"/>
            <a:r>
              <a:rPr lang="en-US" altLang="en-US" dirty="0"/>
              <a:t>resolves conflicts for resource contention.</a:t>
            </a:r>
          </a:p>
          <a:p>
            <a:pPr lvl="1"/>
            <a:r>
              <a:rPr lang="en-US" altLang="en-US" dirty="0"/>
              <a:t>protection in access to resources and data.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Services provided by an OS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5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Computer Hardware Organization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4010" y="1066800"/>
            <a:ext cx="8382000" cy="50022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14475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Computer System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76" y="1905000"/>
            <a:ext cx="8316524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288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pPr marL="609600" indent="-609600">
              <a:buFontTx/>
              <a:buAutoNum type="arabicPeriod"/>
            </a:pPr>
            <a:r>
              <a:rPr lang="en-US" altLang="en-US" b="1" dirty="0">
                <a:solidFill>
                  <a:srgbClr val="0000FF"/>
                </a:solidFill>
              </a:rPr>
              <a:t>Hardware </a:t>
            </a:r>
            <a:r>
              <a:rPr lang="en-US" altLang="en-US" dirty="0"/>
              <a:t>– provides basic computing resources (CPU, Memory, I/O devices, Communication).</a:t>
            </a:r>
          </a:p>
          <a:p>
            <a:pPr marL="609600" indent="-609600">
              <a:buFontTx/>
              <a:buAutoNum type="arabicPeriod"/>
            </a:pPr>
            <a:r>
              <a:rPr lang="en-US" altLang="en-US" b="1" dirty="0">
                <a:solidFill>
                  <a:srgbClr val="0000FF"/>
                </a:solidFill>
              </a:rPr>
              <a:t>Operating System </a:t>
            </a:r>
            <a:r>
              <a:rPr lang="en-US" altLang="en-US" dirty="0"/>
              <a:t>– controls and coordinates </a:t>
            </a:r>
            <a:br>
              <a:rPr lang="en-US" altLang="en-US" dirty="0"/>
            </a:br>
            <a:r>
              <a:rPr lang="en-US" altLang="en-US" dirty="0"/>
              <a:t>use of the hardware among various application programs for various users.</a:t>
            </a:r>
          </a:p>
          <a:p>
            <a:pPr marL="609600" indent="-609600">
              <a:buFontTx/>
              <a:buAutoNum type="arabicPeriod"/>
            </a:pPr>
            <a:r>
              <a:rPr lang="en-US" altLang="en-US" b="1" dirty="0">
                <a:solidFill>
                  <a:srgbClr val="0000FF"/>
                </a:solidFill>
              </a:rPr>
              <a:t>System &amp; Application Programs </a:t>
            </a:r>
            <a:r>
              <a:rPr lang="en-US" altLang="en-US" dirty="0"/>
              <a:t>– ways in which the system resources are used to solve computing problems of the users (</a:t>
            </a:r>
            <a:r>
              <a:rPr lang="en-US" altLang="en-US" b="1" dirty="0"/>
              <a:t>Word processors</a:t>
            </a:r>
            <a:r>
              <a:rPr lang="en-US" altLang="en-US" dirty="0"/>
              <a:t>, </a:t>
            </a:r>
            <a:r>
              <a:rPr lang="en-US" altLang="en-US" b="1" dirty="0"/>
              <a:t>Compilers</a:t>
            </a:r>
            <a:r>
              <a:rPr lang="en-US" altLang="en-US" dirty="0"/>
              <a:t>, </a:t>
            </a:r>
            <a:r>
              <a:rPr lang="en-US" altLang="en-US" b="1" dirty="0"/>
              <a:t>Web browsers</a:t>
            </a:r>
            <a:r>
              <a:rPr lang="en-US" altLang="en-US" dirty="0"/>
              <a:t>, </a:t>
            </a:r>
            <a:r>
              <a:rPr lang="en-US" altLang="en-US" b="1" dirty="0"/>
              <a:t>Database systems</a:t>
            </a:r>
            <a:r>
              <a:rPr lang="en-US" altLang="en-US" dirty="0"/>
              <a:t>, Video games).</a:t>
            </a:r>
          </a:p>
          <a:p>
            <a:pPr marL="609600" indent="-609600">
              <a:buFontTx/>
              <a:buAutoNum type="arabicPeriod"/>
            </a:pPr>
            <a:r>
              <a:rPr lang="en-US" altLang="en-US" b="1" dirty="0">
                <a:solidFill>
                  <a:srgbClr val="0000FF"/>
                </a:solidFill>
              </a:rPr>
              <a:t>Users</a:t>
            </a:r>
            <a:r>
              <a:rPr lang="en-US" altLang="en-US" dirty="0"/>
              <a:t> – (People, Machines, other computers).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Computer System Components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786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Static View of System Components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4" name="Picture 10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9593" y="1219200"/>
            <a:ext cx="8101013" cy="4889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6269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Dynamic View of System Components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4" name="Picture 3" descr="us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174750"/>
            <a:ext cx="7454900" cy="47371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06151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Layers of a Computer System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4522787"/>
            <a:ext cx="3560762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413" y="3790950"/>
            <a:ext cx="30734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013" y="3105150"/>
            <a:ext cx="25400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613" y="2419350"/>
            <a:ext cx="20828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3182938" y="1524000"/>
            <a:ext cx="858837" cy="604837"/>
            <a:chOff x="2207" y="1391"/>
            <a:chExt cx="483" cy="339"/>
          </a:xfrm>
        </p:grpSpPr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2207" y="1391"/>
              <a:ext cx="483" cy="339"/>
            </a:xfrm>
            <a:custGeom>
              <a:avLst/>
              <a:gdLst>
                <a:gd name="T0" fmla="*/ 43 w 483"/>
                <a:gd name="T1" fmla="*/ 0 h 339"/>
                <a:gd name="T2" fmla="*/ 26 w 483"/>
                <a:gd name="T3" fmla="*/ 3 h 339"/>
                <a:gd name="T4" fmla="*/ 13 w 483"/>
                <a:gd name="T5" fmla="*/ 14 h 339"/>
                <a:gd name="T6" fmla="*/ 4 w 483"/>
                <a:gd name="T7" fmla="*/ 25 h 339"/>
                <a:gd name="T8" fmla="*/ 0 w 483"/>
                <a:gd name="T9" fmla="*/ 42 h 339"/>
                <a:gd name="T10" fmla="*/ 0 w 483"/>
                <a:gd name="T11" fmla="*/ 294 h 339"/>
                <a:gd name="T12" fmla="*/ 4 w 483"/>
                <a:gd name="T13" fmla="*/ 310 h 339"/>
                <a:gd name="T14" fmla="*/ 13 w 483"/>
                <a:gd name="T15" fmla="*/ 324 h 339"/>
                <a:gd name="T16" fmla="*/ 26 w 483"/>
                <a:gd name="T17" fmla="*/ 335 h 339"/>
                <a:gd name="T18" fmla="*/ 43 w 483"/>
                <a:gd name="T19" fmla="*/ 338 h 339"/>
                <a:gd name="T20" fmla="*/ 439 w 483"/>
                <a:gd name="T21" fmla="*/ 338 h 339"/>
                <a:gd name="T22" fmla="*/ 456 w 483"/>
                <a:gd name="T23" fmla="*/ 335 h 339"/>
                <a:gd name="T24" fmla="*/ 469 w 483"/>
                <a:gd name="T25" fmla="*/ 324 h 339"/>
                <a:gd name="T26" fmla="*/ 478 w 483"/>
                <a:gd name="T27" fmla="*/ 310 h 339"/>
                <a:gd name="T28" fmla="*/ 482 w 483"/>
                <a:gd name="T29" fmla="*/ 294 h 339"/>
                <a:gd name="T30" fmla="*/ 482 w 483"/>
                <a:gd name="T31" fmla="*/ 42 h 339"/>
                <a:gd name="T32" fmla="*/ 478 w 483"/>
                <a:gd name="T33" fmla="*/ 25 h 339"/>
                <a:gd name="T34" fmla="*/ 469 w 483"/>
                <a:gd name="T35" fmla="*/ 14 h 339"/>
                <a:gd name="T36" fmla="*/ 456 w 483"/>
                <a:gd name="T37" fmla="*/ 3 h 339"/>
                <a:gd name="T38" fmla="*/ 439 w 483"/>
                <a:gd name="T39" fmla="*/ 0 h 339"/>
                <a:gd name="T40" fmla="*/ 43 w 483"/>
                <a:gd name="T41" fmla="*/ 0 h 33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83"/>
                <a:gd name="T64" fmla="*/ 0 h 339"/>
                <a:gd name="T65" fmla="*/ 483 w 483"/>
                <a:gd name="T66" fmla="*/ 339 h 339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83" h="339">
                  <a:moveTo>
                    <a:pt x="43" y="0"/>
                  </a:moveTo>
                  <a:lnTo>
                    <a:pt x="26" y="3"/>
                  </a:lnTo>
                  <a:lnTo>
                    <a:pt x="13" y="14"/>
                  </a:lnTo>
                  <a:lnTo>
                    <a:pt x="4" y="25"/>
                  </a:lnTo>
                  <a:lnTo>
                    <a:pt x="0" y="42"/>
                  </a:lnTo>
                  <a:lnTo>
                    <a:pt x="0" y="294"/>
                  </a:lnTo>
                  <a:lnTo>
                    <a:pt x="4" y="310"/>
                  </a:lnTo>
                  <a:lnTo>
                    <a:pt x="13" y="324"/>
                  </a:lnTo>
                  <a:lnTo>
                    <a:pt x="26" y="335"/>
                  </a:lnTo>
                  <a:lnTo>
                    <a:pt x="43" y="338"/>
                  </a:lnTo>
                  <a:lnTo>
                    <a:pt x="439" y="338"/>
                  </a:lnTo>
                  <a:lnTo>
                    <a:pt x="456" y="335"/>
                  </a:lnTo>
                  <a:lnTo>
                    <a:pt x="469" y="324"/>
                  </a:lnTo>
                  <a:lnTo>
                    <a:pt x="478" y="310"/>
                  </a:lnTo>
                  <a:lnTo>
                    <a:pt x="482" y="294"/>
                  </a:lnTo>
                  <a:lnTo>
                    <a:pt x="482" y="42"/>
                  </a:lnTo>
                  <a:lnTo>
                    <a:pt x="478" y="25"/>
                  </a:lnTo>
                  <a:lnTo>
                    <a:pt x="469" y="14"/>
                  </a:lnTo>
                  <a:lnTo>
                    <a:pt x="456" y="3"/>
                  </a:lnTo>
                  <a:lnTo>
                    <a:pt x="439" y="0"/>
                  </a:lnTo>
                  <a:lnTo>
                    <a:pt x="43" y="0"/>
                  </a:lnTo>
                </a:path>
              </a:pathLst>
            </a:custGeom>
            <a:solidFill>
              <a:srgbClr val="DDDDDD"/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280" y="1435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/>
                <a:t>End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/>
                <a:t>User</a:t>
              </a:r>
            </a:p>
          </p:txBody>
        </p:sp>
      </p:grp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5186363" y="2125662"/>
            <a:ext cx="1428750" cy="536575"/>
            <a:chOff x="3411" y="1728"/>
            <a:chExt cx="575" cy="338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3411" y="1728"/>
              <a:ext cx="575" cy="338"/>
            </a:xfrm>
            <a:custGeom>
              <a:avLst/>
              <a:gdLst>
                <a:gd name="T0" fmla="*/ 38 w 575"/>
                <a:gd name="T1" fmla="*/ 0 h 338"/>
                <a:gd name="T2" fmla="*/ 19 w 575"/>
                <a:gd name="T3" fmla="*/ 3 h 338"/>
                <a:gd name="T4" fmla="*/ 13 w 575"/>
                <a:gd name="T5" fmla="*/ 13 h 338"/>
                <a:gd name="T6" fmla="*/ 0 w 575"/>
                <a:gd name="T7" fmla="*/ 26 h 338"/>
                <a:gd name="T8" fmla="*/ 0 w 575"/>
                <a:gd name="T9" fmla="*/ 43 h 338"/>
                <a:gd name="T10" fmla="*/ 0 w 575"/>
                <a:gd name="T11" fmla="*/ 294 h 338"/>
                <a:gd name="T12" fmla="*/ 0 w 575"/>
                <a:gd name="T13" fmla="*/ 311 h 338"/>
                <a:gd name="T14" fmla="*/ 13 w 575"/>
                <a:gd name="T15" fmla="*/ 324 h 338"/>
                <a:gd name="T16" fmla="*/ 19 w 575"/>
                <a:gd name="T17" fmla="*/ 334 h 338"/>
                <a:gd name="T18" fmla="*/ 38 w 575"/>
                <a:gd name="T19" fmla="*/ 337 h 338"/>
                <a:gd name="T20" fmla="*/ 529 w 575"/>
                <a:gd name="T21" fmla="*/ 337 h 338"/>
                <a:gd name="T22" fmla="*/ 548 w 575"/>
                <a:gd name="T23" fmla="*/ 334 h 338"/>
                <a:gd name="T24" fmla="*/ 561 w 575"/>
                <a:gd name="T25" fmla="*/ 324 h 338"/>
                <a:gd name="T26" fmla="*/ 574 w 575"/>
                <a:gd name="T27" fmla="*/ 311 h 338"/>
                <a:gd name="T28" fmla="*/ 574 w 575"/>
                <a:gd name="T29" fmla="*/ 294 h 338"/>
                <a:gd name="T30" fmla="*/ 574 w 575"/>
                <a:gd name="T31" fmla="*/ 43 h 338"/>
                <a:gd name="T32" fmla="*/ 574 w 575"/>
                <a:gd name="T33" fmla="*/ 26 h 338"/>
                <a:gd name="T34" fmla="*/ 561 w 575"/>
                <a:gd name="T35" fmla="*/ 13 h 338"/>
                <a:gd name="T36" fmla="*/ 548 w 575"/>
                <a:gd name="T37" fmla="*/ 3 h 338"/>
                <a:gd name="T38" fmla="*/ 529 w 575"/>
                <a:gd name="T39" fmla="*/ 0 h 338"/>
                <a:gd name="T40" fmla="*/ 38 w 575"/>
                <a:gd name="T41" fmla="*/ 0 h 33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75"/>
                <a:gd name="T64" fmla="*/ 0 h 338"/>
                <a:gd name="T65" fmla="*/ 575 w 575"/>
                <a:gd name="T66" fmla="*/ 338 h 33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75" h="338">
                  <a:moveTo>
                    <a:pt x="38" y="0"/>
                  </a:moveTo>
                  <a:lnTo>
                    <a:pt x="19" y="3"/>
                  </a:lnTo>
                  <a:lnTo>
                    <a:pt x="13" y="13"/>
                  </a:lnTo>
                  <a:lnTo>
                    <a:pt x="0" y="26"/>
                  </a:lnTo>
                  <a:lnTo>
                    <a:pt x="0" y="43"/>
                  </a:lnTo>
                  <a:lnTo>
                    <a:pt x="0" y="294"/>
                  </a:lnTo>
                  <a:lnTo>
                    <a:pt x="0" y="311"/>
                  </a:lnTo>
                  <a:lnTo>
                    <a:pt x="13" y="324"/>
                  </a:lnTo>
                  <a:lnTo>
                    <a:pt x="19" y="334"/>
                  </a:lnTo>
                  <a:lnTo>
                    <a:pt x="38" y="337"/>
                  </a:lnTo>
                  <a:lnTo>
                    <a:pt x="529" y="337"/>
                  </a:lnTo>
                  <a:lnTo>
                    <a:pt x="548" y="334"/>
                  </a:lnTo>
                  <a:lnTo>
                    <a:pt x="561" y="324"/>
                  </a:lnTo>
                  <a:lnTo>
                    <a:pt x="574" y="311"/>
                  </a:lnTo>
                  <a:lnTo>
                    <a:pt x="574" y="294"/>
                  </a:lnTo>
                  <a:lnTo>
                    <a:pt x="574" y="43"/>
                  </a:lnTo>
                  <a:lnTo>
                    <a:pt x="574" y="26"/>
                  </a:lnTo>
                  <a:lnTo>
                    <a:pt x="561" y="13"/>
                  </a:lnTo>
                  <a:lnTo>
                    <a:pt x="548" y="3"/>
                  </a:lnTo>
                  <a:lnTo>
                    <a:pt x="529" y="0"/>
                  </a:lnTo>
                  <a:lnTo>
                    <a:pt x="38" y="0"/>
                  </a:lnTo>
                </a:path>
              </a:pathLst>
            </a:custGeom>
            <a:solidFill>
              <a:srgbClr val="DDDDDD"/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3480" y="1771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/>
                <a:t>Programmer</a:t>
              </a:r>
            </a:p>
          </p:txBody>
        </p:sp>
      </p:grp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5786438" y="3421062"/>
            <a:ext cx="1452562" cy="1000125"/>
            <a:chOff x="3789" y="2544"/>
            <a:chExt cx="581" cy="338"/>
          </a:xfrm>
        </p:grpSpPr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3789" y="2544"/>
              <a:ext cx="581" cy="338"/>
            </a:xfrm>
            <a:custGeom>
              <a:avLst/>
              <a:gdLst>
                <a:gd name="T0" fmla="*/ 42 w 581"/>
                <a:gd name="T1" fmla="*/ 0 h 338"/>
                <a:gd name="T2" fmla="*/ 28 w 581"/>
                <a:gd name="T3" fmla="*/ 5 h 338"/>
                <a:gd name="T4" fmla="*/ 14 w 581"/>
                <a:gd name="T5" fmla="*/ 14 h 338"/>
                <a:gd name="T6" fmla="*/ 7 w 581"/>
                <a:gd name="T7" fmla="*/ 28 h 338"/>
                <a:gd name="T8" fmla="*/ 0 w 581"/>
                <a:gd name="T9" fmla="*/ 42 h 338"/>
                <a:gd name="T10" fmla="*/ 0 w 581"/>
                <a:gd name="T11" fmla="*/ 296 h 338"/>
                <a:gd name="T12" fmla="*/ 7 w 581"/>
                <a:gd name="T13" fmla="*/ 314 h 338"/>
                <a:gd name="T14" fmla="*/ 14 w 581"/>
                <a:gd name="T15" fmla="*/ 323 h 338"/>
                <a:gd name="T16" fmla="*/ 28 w 581"/>
                <a:gd name="T17" fmla="*/ 332 h 338"/>
                <a:gd name="T18" fmla="*/ 42 w 581"/>
                <a:gd name="T19" fmla="*/ 337 h 338"/>
                <a:gd name="T20" fmla="*/ 538 w 581"/>
                <a:gd name="T21" fmla="*/ 337 h 338"/>
                <a:gd name="T22" fmla="*/ 552 w 581"/>
                <a:gd name="T23" fmla="*/ 332 h 338"/>
                <a:gd name="T24" fmla="*/ 566 w 581"/>
                <a:gd name="T25" fmla="*/ 323 h 338"/>
                <a:gd name="T26" fmla="*/ 580 w 581"/>
                <a:gd name="T27" fmla="*/ 314 h 338"/>
                <a:gd name="T28" fmla="*/ 580 w 581"/>
                <a:gd name="T29" fmla="*/ 296 h 338"/>
                <a:gd name="T30" fmla="*/ 580 w 581"/>
                <a:gd name="T31" fmla="*/ 42 h 338"/>
                <a:gd name="T32" fmla="*/ 580 w 581"/>
                <a:gd name="T33" fmla="*/ 28 h 338"/>
                <a:gd name="T34" fmla="*/ 566 w 581"/>
                <a:gd name="T35" fmla="*/ 14 h 338"/>
                <a:gd name="T36" fmla="*/ 552 w 581"/>
                <a:gd name="T37" fmla="*/ 5 h 338"/>
                <a:gd name="T38" fmla="*/ 538 w 581"/>
                <a:gd name="T39" fmla="*/ 0 h 338"/>
                <a:gd name="T40" fmla="*/ 42 w 581"/>
                <a:gd name="T41" fmla="*/ 0 h 33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81"/>
                <a:gd name="T64" fmla="*/ 0 h 338"/>
                <a:gd name="T65" fmla="*/ 581 w 581"/>
                <a:gd name="T66" fmla="*/ 338 h 33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81" h="338">
                  <a:moveTo>
                    <a:pt x="42" y="0"/>
                  </a:moveTo>
                  <a:lnTo>
                    <a:pt x="28" y="5"/>
                  </a:lnTo>
                  <a:lnTo>
                    <a:pt x="14" y="14"/>
                  </a:lnTo>
                  <a:lnTo>
                    <a:pt x="7" y="28"/>
                  </a:lnTo>
                  <a:lnTo>
                    <a:pt x="0" y="42"/>
                  </a:lnTo>
                  <a:lnTo>
                    <a:pt x="0" y="296"/>
                  </a:lnTo>
                  <a:lnTo>
                    <a:pt x="7" y="314"/>
                  </a:lnTo>
                  <a:lnTo>
                    <a:pt x="14" y="323"/>
                  </a:lnTo>
                  <a:lnTo>
                    <a:pt x="28" y="332"/>
                  </a:lnTo>
                  <a:lnTo>
                    <a:pt x="42" y="337"/>
                  </a:lnTo>
                  <a:lnTo>
                    <a:pt x="538" y="337"/>
                  </a:lnTo>
                  <a:lnTo>
                    <a:pt x="552" y="332"/>
                  </a:lnTo>
                  <a:lnTo>
                    <a:pt x="566" y="323"/>
                  </a:lnTo>
                  <a:lnTo>
                    <a:pt x="580" y="314"/>
                  </a:lnTo>
                  <a:lnTo>
                    <a:pt x="580" y="296"/>
                  </a:lnTo>
                  <a:lnTo>
                    <a:pt x="580" y="42"/>
                  </a:lnTo>
                  <a:lnTo>
                    <a:pt x="580" y="28"/>
                  </a:lnTo>
                  <a:lnTo>
                    <a:pt x="566" y="14"/>
                  </a:lnTo>
                  <a:lnTo>
                    <a:pt x="552" y="5"/>
                  </a:lnTo>
                  <a:lnTo>
                    <a:pt x="538" y="0"/>
                  </a:lnTo>
                  <a:lnTo>
                    <a:pt x="42" y="0"/>
                  </a:lnTo>
                </a:path>
              </a:pathLst>
            </a:custGeom>
            <a:solidFill>
              <a:srgbClr val="DDDDDD"/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3864" y="2587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/>
                <a:t>Operating-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/>
                <a:t>System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/>
                <a:t>Designer</a:t>
              </a:r>
            </a:p>
          </p:txBody>
        </p:sp>
      </p:grpSp>
      <p:sp>
        <p:nvSpPr>
          <p:cNvPr id="17" name="Line 16"/>
          <p:cNvSpPr>
            <a:spLocks noChangeShapeType="1"/>
          </p:cNvSpPr>
          <p:nvPr/>
        </p:nvSpPr>
        <p:spPr bwMode="auto">
          <a:xfrm>
            <a:off x="3657600" y="2127250"/>
            <a:ext cx="0" cy="379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 flipH="1">
            <a:off x="4878388" y="2660650"/>
            <a:ext cx="455612" cy="531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 flipH="1">
            <a:off x="5106988" y="2660650"/>
            <a:ext cx="608012" cy="1217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 flipH="1">
            <a:off x="5411788" y="3956050"/>
            <a:ext cx="531812" cy="6080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81200" y="4640262"/>
            <a:ext cx="3429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/>
              <a:t>Computer Hardware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2286000" y="3954462"/>
            <a:ext cx="2895600" cy="6858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/>
              <a:t>Operating-System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2514600" y="3268662"/>
            <a:ext cx="23622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/>
              <a:t>Utilities</a:t>
            </a: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2663825" y="2371725"/>
            <a:ext cx="1984375" cy="89693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/>
              <a:t>Application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3401484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6"/>
          <p:cNvSpPr txBox="1"/>
          <p:nvPr/>
        </p:nvSpPr>
        <p:spPr>
          <a:xfrm>
            <a:off x="1198088" y="3123368"/>
            <a:ext cx="6824298" cy="110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85000"/>
                    <a:lumOff val="1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tr-TR" altLang="zh-CN" sz="6600" b="1" spc="-300" dirty="0">
                <a:solidFill>
                  <a:srgbClr val="08A1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华文中宋" panose="02010600040101010101" pitchFamily="2" charset="-122"/>
              </a:rPr>
              <a:t>THANK YOU !</a:t>
            </a:r>
            <a:endParaRPr lang="zh-CN" altLang="en-US" sz="6600" b="1" spc="-300" dirty="0">
              <a:solidFill>
                <a:srgbClr val="923C9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8591</TotalTime>
  <Words>338</Words>
  <Application>Microsoft Office PowerPoint</Application>
  <PresentationFormat>On-screen Show (4:3)</PresentationFormat>
  <Paragraphs>60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What is an Operating System (1)?</vt:lpstr>
      <vt:lpstr>PowerPoint Presentation</vt:lpstr>
      <vt:lpstr>What is an Operating System (2)?</vt:lpstr>
      <vt:lpstr>Where does the OS fit in?</vt:lpstr>
      <vt:lpstr>Services provided by an OS</vt:lpstr>
      <vt:lpstr>Computer Hardware Organization</vt:lpstr>
      <vt:lpstr>Computer System </vt:lpstr>
      <vt:lpstr>Computer System Components</vt:lpstr>
      <vt:lpstr>Static View of System Components</vt:lpstr>
      <vt:lpstr>Dynamic View of System Components</vt:lpstr>
      <vt:lpstr>Layers of a Computer System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panduraju pagidimalla</cp:lastModifiedBy>
  <cp:revision>484</cp:revision>
  <dcterms:created xsi:type="dcterms:W3CDTF">2022-12-01T06:56:39Z</dcterms:created>
  <dcterms:modified xsi:type="dcterms:W3CDTF">2024-10-18T07:25:52Z</dcterms:modified>
</cp:coreProperties>
</file>